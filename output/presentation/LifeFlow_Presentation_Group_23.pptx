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22"/>
    <p:restoredTop sz="94610"/>
  </p:normalViewPr>
  <p:slideViewPr>
    <p:cSldViewPr snapToGrid="0" snapToObjects="1">
      <p:cViewPr>
        <p:scale>
          <a:sx n="156" d="100"/>
          <a:sy n="156" d="100"/>
        </p:scale>
        <p:origin x="-960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6309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E00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_extract/extracted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7085" y="6531"/>
            <a:ext cx="12191695" cy="6858000"/>
          </a:xfrm>
          <a:prstGeom prst="rect">
            <a:avLst/>
          </a:prstGeom>
          <a:solidFill>
            <a:srgbClr val="3D0006">
              <a:alpha val="78000"/>
            </a:srgbClr>
          </a:solidFill>
          <a:ln/>
        </p:spPr>
        <p:txBody>
          <a:bodyPr/>
          <a:lstStyle/>
          <a:p>
            <a:pPr marL="0" algn="l" defTabSz="914400" rtl="0" eaLnBrk="1" latinLnBrk="0" hangingPunct="1"/>
            <a:endParaRPr lang="en-SA"/>
          </a:p>
        </p:txBody>
      </p:sp>
      <p:pic>
        <p:nvPicPr>
          <p:cNvPr id="4" name="Image 1" descr="/home/claude/pptx_work/assets/logo_d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648" y="777240"/>
            <a:ext cx="914400" cy="914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0" y="1874520"/>
            <a:ext cx="121916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LifeFlow</a:t>
            </a:r>
            <a:endParaRPr lang="en-US" sz="6000" dirty="0"/>
          </a:p>
        </p:txBody>
      </p:sp>
      <p:sp>
        <p:nvSpPr>
          <p:cNvPr id="6" name="Text 2"/>
          <p:cNvSpPr/>
          <p:nvPr/>
        </p:nvSpPr>
        <p:spPr>
          <a:xfrm>
            <a:off x="0" y="3063240"/>
            <a:ext cx="121916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6D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Blood Matching System</a:t>
            </a: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4175608" y="3794760"/>
            <a:ext cx="384048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8" name="Text 4"/>
          <p:cNvSpPr/>
          <p:nvPr/>
        </p:nvSpPr>
        <p:spPr>
          <a:xfrm>
            <a:off x="4175608" y="3794760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3  ·  GOOD HEALTH AND WELL-BEING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0" y="489204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F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BIT1123 / BISE2093 / DIT1113  ·  Object Oriented Programming — Final Project (Group, 40%)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0" y="5193792"/>
            <a:ext cx="121916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9A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University Malaysia — Faculty of Information Technology, Cyberjaya Campus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632808" y="5806440"/>
            <a:ext cx="292608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2" name="Text 8"/>
          <p:cNvSpPr/>
          <p:nvPr/>
        </p:nvSpPr>
        <p:spPr>
          <a:xfrm>
            <a:off x="0" y="59893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[ALI MOHAMMED RIYADH YASEEN FAREA] · [</a:t>
            </a:r>
            <a:r>
              <a:rPr lang="en-US" sz="1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Omar </a:t>
            </a:r>
            <a:r>
              <a:rPr lang="en-US" sz="13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Algaafari</a:t>
            </a: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 · [</a:t>
            </a:r>
            <a:r>
              <a:rPr lang="en-SA" sz="1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KISRANE AMINE </a:t>
            </a: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 · [</a:t>
            </a:r>
            <a:r>
              <a:rPr lang="en-SA" sz="1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GHAITH ALDAIN GAMIL HAMID MELHI QASEM </a:t>
            </a: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 · [</a:t>
            </a:r>
            <a:r>
              <a:rPr lang="en-SA" sz="1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Jiha Omar</a:t>
            </a: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13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B47D4D-15DA-0477-94E8-393C5B948C77}"/>
              </a:ext>
            </a:extLst>
          </p:cNvPr>
          <p:cNvSpPr txBox="1"/>
          <p:nvPr/>
        </p:nvSpPr>
        <p:spPr>
          <a:xfrm>
            <a:off x="2914650" y="4451465"/>
            <a:ext cx="6099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dirty="0" err="1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ourier New" pitchFamily="34" charset="-122"/>
                <a:cs typeface="Calibri" panose="020F0502020204030204" pitchFamily="34" charset="0"/>
              </a:rPr>
              <a:t>Githup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ourier New" pitchFamily="34" charset="-122"/>
                <a:cs typeface="Calibri" panose="020F0502020204030204" pitchFamily="34" charset="0"/>
              </a:rPr>
              <a:t> Repo: </a:t>
            </a:r>
            <a:r>
              <a:rPr lang="en-US" sz="1800" dirty="0" err="1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ourier New" pitchFamily="34" charset="-122"/>
                <a:cs typeface="Calibri" panose="020F0502020204030204" pitchFamily="34" charset="0"/>
              </a:rPr>
              <a:t>github.com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ourier New" pitchFamily="34" charset="-122"/>
                <a:cs typeface="Calibri" panose="020F0502020204030204" pitchFamily="34" charset="0"/>
              </a:rPr>
              <a:t>/</a:t>
            </a:r>
            <a:r>
              <a:rPr lang="en-US" sz="1800" dirty="0" err="1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ourier New" pitchFamily="34" charset="-122"/>
                <a:cs typeface="Calibri" panose="020F0502020204030204" pitchFamily="34" charset="0"/>
              </a:rPr>
              <a:t>moha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ourier New" pitchFamily="34" charset="-122"/>
                <a:cs typeface="Calibri" panose="020F0502020204030204" pitchFamily="34" charset="0"/>
              </a:rPr>
              <a:t>-r/</a:t>
            </a:r>
            <a:r>
              <a:rPr lang="en-US" sz="1800" dirty="0" err="1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ourier New" pitchFamily="34" charset="-122"/>
                <a:cs typeface="Calibri" panose="020F0502020204030204" pitchFamily="34" charset="0"/>
              </a:rPr>
              <a:t>LifeFlow</a:t>
            </a:r>
            <a:endParaRPr lang="en-US" sz="1800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CONTEXT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LifeFlow Matters</a:t>
            </a:r>
            <a:endParaRPr lang="en-US" sz="3000" dirty="0"/>
          </a:p>
        </p:txBody>
      </p:sp>
      <p:pic>
        <p:nvPicPr>
          <p:cNvPr id="4" name="Image 0" descr="/home/claude/pptx_work/assets/logo_d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382512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63825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LIFEFLOW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4EAEA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8" name="Shape 5"/>
          <p:cNvSpPr/>
          <p:nvPr/>
        </p:nvSpPr>
        <p:spPr>
          <a:xfrm>
            <a:off x="1737360" y="2148840"/>
            <a:ext cx="1005840" cy="1005840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9" name="Image 1" descr="/home/claude/pptx_work/assets/icons/heartbe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8119" y="2279599"/>
            <a:ext cx="744322" cy="74432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" y="331012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3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822960" y="37947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HEALTH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kern="0" spc="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WELL-BEING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1463040" y="4572000"/>
            <a:ext cx="1554480" cy="0"/>
          </a:xfrm>
          <a:prstGeom prst="line">
            <a:avLst/>
          </a:prstGeom>
          <a:noFill/>
          <a:ln w="15875">
            <a:solidFill>
              <a:srgbClr val="99001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3" name="Text 9"/>
          <p:cNvSpPr/>
          <p:nvPr/>
        </p:nvSpPr>
        <p:spPr>
          <a:xfrm>
            <a:off x="868680" y="475488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health simulation — not a real hospital system, but modelled on how real blood banks operate.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343400" y="1883664"/>
            <a:ext cx="128016" cy="128016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5" name="Text 11"/>
          <p:cNvSpPr/>
          <p:nvPr/>
        </p:nvSpPr>
        <p:spPr>
          <a:xfrm>
            <a:off x="4617720" y="1755648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Blood expires.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617720" y="2084832"/>
            <a:ext cx="6766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donated unit doesn't stay usable forever — untracked stock is stock that gets wasted.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343400" y="3118104"/>
            <a:ext cx="128016" cy="128016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8" name="Text 14"/>
          <p:cNvSpPr/>
          <p:nvPr/>
        </p:nvSpPr>
        <p:spPr>
          <a:xfrm>
            <a:off x="4617720" y="2990088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Emergencies can't wait.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4617720" y="3319272"/>
            <a:ext cx="6766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hospital in crisis needs a match now, not after someone checks a spreadsheet.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4343400" y="4352544"/>
            <a:ext cx="128016" cy="128016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1" name="Text 17"/>
          <p:cNvSpPr/>
          <p:nvPr/>
        </p:nvSpPr>
        <p:spPr>
          <a:xfrm>
            <a:off x="4617720" y="4224528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broken workflow, many risks.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4617720" y="4553712"/>
            <a:ext cx="6766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sign-up, stock, requests, and matching are usually managed separately — LifeFlow connects them into a single, consistent system.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pic>
        <p:nvPicPr>
          <p:cNvPr id="4" name="Image 0" descr="/home/claude/pptx_work/assets/logo_d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382512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63825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LIFEFLOW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600200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spreadsheet-based blood tracking can't answer the question that matters most in a crisis: what's available, right now, and for whom? Without a connected system, hospitals lose time they don't have — and blood banks lose stock they can't get back.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834640"/>
            <a:ext cx="3520440" cy="3108960"/>
          </a:xfrm>
          <a:prstGeom prst="roundRect">
            <a:avLst>
              <a:gd name="adj" fmla="val 2059"/>
            </a:avLst>
          </a:prstGeom>
          <a:solidFill>
            <a:srgbClr val="FBF6F6"/>
          </a:solidFill>
          <a:ln w="12700">
            <a:solidFill>
              <a:srgbClr val="E7E1DF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9" name="Shape 6"/>
          <p:cNvSpPr/>
          <p:nvPr/>
        </p:nvSpPr>
        <p:spPr>
          <a:xfrm>
            <a:off x="868680" y="3154680"/>
            <a:ext cx="658368" cy="65836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10" name="Image 1" descr="/home/claude/pptx_work/assets/icons/triangle-ale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268" y="3240268"/>
            <a:ext cx="487192" cy="4871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68680" y="402336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real-time visibility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868680" y="457200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can't see current stock by blood type, or which units are close to expiry, without checking manually.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343400" y="2834640"/>
            <a:ext cx="3520440" cy="3108960"/>
          </a:xfrm>
          <a:prstGeom prst="roundRect">
            <a:avLst>
              <a:gd name="adj" fmla="val 2059"/>
            </a:avLst>
          </a:prstGeom>
          <a:solidFill>
            <a:srgbClr val="FBF6F6"/>
          </a:solidFill>
          <a:ln w="12700">
            <a:solidFill>
              <a:srgbClr val="E7E1DF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4" name="Shape 10"/>
          <p:cNvSpPr/>
          <p:nvPr/>
        </p:nvSpPr>
        <p:spPr>
          <a:xfrm>
            <a:off x="4663440" y="3154680"/>
            <a:ext cx="658368" cy="65836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15" name="Image 2" descr="/home/claude/pptx_work/assets/icons/triangle-ale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9028" y="3240268"/>
            <a:ext cx="487192" cy="48719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663440" y="402336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systematic priority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4663440" y="457200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and routine requests compete for the same attention, with no consistent rule for which comes first.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138160" y="2834640"/>
            <a:ext cx="3520440" cy="3108960"/>
          </a:xfrm>
          <a:prstGeom prst="roundRect">
            <a:avLst>
              <a:gd name="adj" fmla="val 2059"/>
            </a:avLst>
          </a:prstGeom>
          <a:solidFill>
            <a:srgbClr val="FBF6F6"/>
          </a:solidFill>
          <a:ln w="12700">
            <a:solidFill>
              <a:srgbClr val="E7E1DF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9" name="Shape 14"/>
          <p:cNvSpPr/>
          <p:nvPr/>
        </p:nvSpPr>
        <p:spPr>
          <a:xfrm>
            <a:off x="8458200" y="3154680"/>
            <a:ext cx="658368" cy="65836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20" name="Image 3" descr="/home/claude/pptx_work/assets/icons/triangle-ale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3788" y="3240268"/>
            <a:ext cx="487192" cy="48719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458200" y="402336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safeguard on records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8458200" y="457200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corrupted file or crashed spreadsheet can mean losing donor and stock history with no way to recover it.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Objectives</a:t>
            </a:r>
            <a:endParaRPr lang="en-US" sz="3000" dirty="0"/>
          </a:p>
        </p:txBody>
      </p:sp>
      <p:pic>
        <p:nvPicPr>
          <p:cNvPr id="4" name="Image 0" descr="/home/claude/pptx_work/assets/logo_d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382512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63825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LIFEFLOW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990011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8" name="Text 5"/>
          <p:cNvSpPr/>
          <p:nvPr/>
        </p:nvSpPr>
        <p:spPr>
          <a:xfrm>
            <a:off x="54864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280160" y="1773936"/>
            <a:ext cx="10332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 donor, blood stock, and hospital request management in one connected system.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280160" y="2596896"/>
            <a:ext cx="10332720" cy="0"/>
          </a:xfrm>
          <a:prstGeom prst="line">
            <a:avLst/>
          </a:prstGeom>
          <a:noFill/>
          <a:ln w="12700">
            <a:solidFill>
              <a:srgbClr val="E7E1DF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1" name="Shape 8"/>
          <p:cNvSpPr/>
          <p:nvPr/>
        </p:nvSpPr>
        <p:spPr>
          <a:xfrm>
            <a:off x="548640" y="267004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990011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2" name="Text 9"/>
          <p:cNvSpPr/>
          <p:nvPr/>
        </p:nvSpPr>
        <p:spPr>
          <a:xfrm>
            <a:off x="548640" y="2670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80160" y="2615184"/>
            <a:ext cx="10332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emergency-first matching using priority rules and FEFO (first-expiry, first-out).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280160" y="3438144"/>
            <a:ext cx="10332720" cy="0"/>
          </a:xfrm>
          <a:prstGeom prst="line">
            <a:avLst/>
          </a:prstGeom>
          <a:noFill/>
          <a:ln w="12700">
            <a:solidFill>
              <a:srgbClr val="E7E1DF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5" name="Shape 12"/>
          <p:cNvSpPr/>
          <p:nvPr/>
        </p:nvSpPr>
        <p:spPr>
          <a:xfrm>
            <a:off x="548640" y="351129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990011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6" name="Text 13"/>
          <p:cNvSpPr/>
          <p:nvPr/>
        </p:nvSpPr>
        <p:spPr>
          <a:xfrm>
            <a:off x="548640" y="35112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280160" y="3456432"/>
            <a:ext cx="10332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every donor against eligibility rules before a donation is ever accepted.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1280160" y="4279392"/>
            <a:ext cx="10332720" cy="0"/>
          </a:xfrm>
          <a:prstGeom prst="line">
            <a:avLst/>
          </a:prstGeom>
          <a:noFill/>
          <a:ln w="12700">
            <a:solidFill>
              <a:srgbClr val="E7E1DF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9" name="Shape 16"/>
          <p:cNvSpPr/>
          <p:nvPr/>
        </p:nvSpPr>
        <p:spPr>
          <a:xfrm>
            <a:off x="548640" y="435254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990011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0" name="Text 17"/>
          <p:cNvSpPr/>
          <p:nvPr/>
        </p:nvSpPr>
        <p:spPr>
          <a:xfrm>
            <a:off x="548640" y="43525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280160" y="4297680"/>
            <a:ext cx="10332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 reliable, tamper-evident local data storage that survives a crash.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1280160" y="5120640"/>
            <a:ext cx="10332720" cy="0"/>
          </a:xfrm>
          <a:prstGeom prst="line">
            <a:avLst/>
          </a:prstGeom>
          <a:noFill/>
          <a:ln w="12700">
            <a:solidFill>
              <a:srgbClr val="E7E1DF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3" name="Shape 20"/>
          <p:cNvSpPr/>
          <p:nvPr/>
        </p:nvSpPr>
        <p:spPr>
          <a:xfrm>
            <a:off x="548640" y="519379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4" name="Text 21"/>
          <p:cNvSpPr/>
          <p:nvPr/>
        </p:nvSpPr>
        <p:spPr>
          <a:xfrm>
            <a:off x="548640" y="5193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280160" y="5138928"/>
            <a:ext cx="10332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the four core OOP principles as working, load-bearing parts of the system — not decoration.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People. One System.</a:t>
            </a:r>
            <a:endParaRPr lang="en-US" sz="3000" dirty="0"/>
          </a:p>
        </p:txBody>
      </p:sp>
      <p:pic>
        <p:nvPicPr>
          <p:cNvPr id="4" name="Image 0" descr="/home/claude/pptx_work/assets/logo_d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382512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63825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LIFEFLOW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35204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5875">
            <a:solidFill>
              <a:srgbClr val="E7E1DF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8" name="Shape 5"/>
          <p:cNvSpPr/>
          <p:nvPr/>
        </p:nvSpPr>
        <p:spPr>
          <a:xfrm>
            <a:off x="3291840" y="21945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4EAEA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9" name="Text 6"/>
          <p:cNvSpPr/>
          <p:nvPr/>
        </p:nvSpPr>
        <p:spPr>
          <a:xfrm>
            <a:off x="329184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805940" y="2560320"/>
            <a:ext cx="1005840" cy="1005840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11" name="Image 1" descr="/home/claude/pptx_work/assets/icons/user-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6699" y="2691079"/>
            <a:ext cx="744322" cy="7443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384048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kern="0" spc="1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</a:t>
            </a:r>
            <a:endParaRPr lang="en-US" sz="1900" dirty="0"/>
          </a:p>
        </p:txBody>
      </p:sp>
      <p:sp>
        <p:nvSpPr>
          <p:cNvPr id="13" name="Shape 9"/>
          <p:cNvSpPr/>
          <p:nvPr/>
        </p:nvSpPr>
        <p:spPr>
          <a:xfrm>
            <a:off x="1851660" y="4306824"/>
            <a:ext cx="914400" cy="0"/>
          </a:xfrm>
          <a:prstGeom prst="line">
            <a:avLst/>
          </a:prstGeom>
          <a:noFill/>
          <a:ln w="19050">
            <a:solidFill>
              <a:srgbClr val="990011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4" name="Text 10"/>
          <p:cNvSpPr/>
          <p:nvPr/>
        </p:nvSpPr>
        <p:spPr>
          <a:xfrm>
            <a:off x="868680" y="448056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donors, stock, matching, appointments, centers, and reports.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4343400" y="1874520"/>
            <a:ext cx="35204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5875">
            <a:solidFill>
              <a:srgbClr val="E7E1DF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6" name="Shape 12"/>
          <p:cNvSpPr/>
          <p:nvPr/>
        </p:nvSpPr>
        <p:spPr>
          <a:xfrm>
            <a:off x="7086600" y="21945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4EAEA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7" name="Text 13"/>
          <p:cNvSpPr/>
          <p:nvPr/>
        </p:nvSpPr>
        <p:spPr>
          <a:xfrm>
            <a:off x="708660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5600700" y="2560320"/>
            <a:ext cx="1005840" cy="1005840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19" name="Image 2" descr="/home/claude/pptx_work/assets/icons/ti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1459" y="2691079"/>
            <a:ext cx="744322" cy="74432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343400" y="384048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kern="0" spc="1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DONOR</a:t>
            </a:r>
            <a:endParaRPr lang="en-US" sz="1900" dirty="0"/>
          </a:p>
        </p:txBody>
      </p:sp>
      <p:sp>
        <p:nvSpPr>
          <p:cNvPr id="21" name="Shape 16"/>
          <p:cNvSpPr/>
          <p:nvPr/>
        </p:nvSpPr>
        <p:spPr>
          <a:xfrm>
            <a:off x="5646420" y="4306824"/>
            <a:ext cx="914400" cy="0"/>
          </a:xfrm>
          <a:prstGeom prst="line">
            <a:avLst/>
          </a:prstGeom>
          <a:noFill/>
          <a:ln w="19050">
            <a:solidFill>
              <a:srgbClr val="990011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2" name="Text 17"/>
          <p:cNvSpPr/>
          <p:nvPr/>
        </p:nvSpPr>
        <p:spPr>
          <a:xfrm>
            <a:off x="4663440" y="448056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eligibility, books appointments, and reviews donation impact.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8138160" y="1874520"/>
            <a:ext cx="35204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5875">
            <a:solidFill>
              <a:srgbClr val="E7E1DF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4" name="Shape 19"/>
          <p:cNvSpPr/>
          <p:nvPr/>
        </p:nvSpPr>
        <p:spPr>
          <a:xfrm>
            <a:off x="10881360" y="21945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4EAEA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5" name="Text 20"/>
          <p:cNvSpPr/>
          <p:nvPr/>
        </p:nvSpPr>
        <p:spPr>
          <a:xfrm>
            <a:off x="1088136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26" name="Shape 21"/>
          <p:cNvSpPr/>
          <p:nvPr/>
        </p:nvSpPr>
        <p:spPr>
          <a:xfrm>
            <a:off x="9395460" y="2560320"/>
            <a:ext cx="1005840" cy="1005840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27" name="Image 3" descr="/home/claude/pptx_work/assets/icons/hospit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6219" y="2691079"/>
            <a:ext cx="744322" cy="74432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138160" y="384048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kern="0" spc="1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</a:t>
            </a:r>
            <a:endParaRPr lang="en-US" sz="1900" dirty="0"/>
          </a:p>
        </p:txBody>
      </p:sp>
      <p:sp>
        <p:nvSpPr>
          <p:cNvPr id="29" name="Shape 23"/>
          <p:cNvSpPr/>
          <p:nvPr/>
        </p:nvSpPr>
        <p:spPr>
          <a:xfrm>
            <a:off x="9441180" y="4306824"/>
            <a:ext cx="914400" cy="0"/>
          </a:xfrm>
          <a:prstGeom prst="line">
            <a:avLst/>
          </a:prstGeom>
          <a:noFill/>
          <a:ln w="19050">
            <a:solidFill>
              <a:srgbClr val="990011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0" name="Text 24"/>
          <p:cNvSpPr/>
          <p:nvPr/>
        </p:nvSpPr>
        <p:spPr>
          <a:xfrm>
            <a:off x="8458200" y="448056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blood requests, tracks volunteers, and records donations.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Connected Workflow</a:t>
            </a:r>
            <a:endParaRPr lang="en-US" sz="3000" dirty="0"/>
          </a:p>
        </p:txBody>
      </p:sp>
      <p:pic>
        <p:nvPicPr>
          <p:cNvPr id="4" name="Image 0" descr="/home/claude/pptx_work/assets/logo_d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382512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63825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LIFEFLOW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371600" y="3749040"/>
            <a:ext cx="9418320" cy="0"/>
          </a:xfrm>
          <a:prstGeom prst="line">
            <a:avLst/>
          </a:prstGeom>
          <a:noFill/>
          <a:ln w="25400">
            <a:solidFill>
              <a:srgbClr val="E7E1DF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8" name="Shape 5"/>
          <p:cNvSpPr/>
          <p:nvPr/>
        </p:nvSpPr>
        <p:spPr>
          <a:xfrm>
            <a:off x="1088136" y="3465576"/>
            <a:ext cx="566928" cy="566928"/>
          </a:xfrm>
          <a:prstGeom prst="ellipse">
            <a:avLst/>
          </a:prstGeom>
          <a:solidFill>
            <a:srgbClr val="990011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9" name="Text 6"/>
          <p:cNvSpPr/>
          <p:nvPr/>
        </p:nvSpPr>
        <p:spPr>
          <a:xfrm>
            <a:off x="1088136" y="34655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1371600" y="3154680"/>
            <a:ext cx="0" cy="310896"/>
          </a:xfrm>
          <a:prstGeom prst="line">
            <a:avLst/>
          </a:prstGeom>
          <a:noFill/>
          <a:ln w="15875">
            <a:solidFill>
              <a:srgbClr val="E7E1DF"/>
            </a:solidFill>
            <a:prstDash val="dash"/>
          </a:ln>
        </p:spPr>
        <p:txBody>
          <a:bodyPr/>
          <a:lstStyle/>
          <a:p>
            <a:endParaRPr lang="en-SA"/>
          </a:p>
        </p:txBody>
      </p:sp>
      <p:sp>
        <p:nvSpPr>
          <p:cNvPr id="11" name="Shape 8"/>
          <p:cNvSpPr/>
          <p:nvPr/>
        </p:nvSpPr>
        <p:spPr>
          <a:xfrm>
            <a:off x="320040" y="2331720"/>
            <a:ext cx="2103120" cy="822960"/>
          </a:xfrm>
          <a:prstGeom prst="roundRect">
            <a:avLst>
              <a:gd name="adj" fmla="val 6667"/>
            </a:avLst>
          </a:prstGeom>
          <a:solidFill>
            <a:srgbClr val="FBF6F6"/>
          </a:solidFill>
          <a:ln w="12700">
            <a:solidFill>
              <a:srgbClr val="E7E1DF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2" name="Text 9"/>
          <p:cNvSpPr/>
          <p:nvPr/>
        </p:nvSpPr>
        <p:spPr>
          <a:xfrm>
            <a:off x="411480" y="23317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creates a request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227576" y="3465576"/>
            <a:ext cx="566928" cy="566928"/>
          </a:xfrm>
          <a:prstGeom prst="ellipse">
            <a:avLst/>
          </a:prstGeom>
          <a:solidFill>
            <a:srgbClr val="990011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4" name="Text 11"/>
          <p:cNvSpPr/>
          <p:nvPr/>
        </p:nvSpPr>
        <p:spPr>
          <a:xfrm>
            <a:off x="4227576" y="34655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4511040" y="4032504"/>
            <a:ext cx="0" cy="219456"/>
          </a:xfrm>
          <a:prstGeom prst="line">
            <a:avLst/>
          </a:prstGeom>
          <a:noFill/>
          <a:ln w="15875">
            <a:solidFill>
              <a:srgbClr val="E7E1DF"/>
            </a:solidFill>
            <a:prstDash val="dash"/>
          </a:ln>
        </p:spPr>
        <p:txBody>
          <a:bodyPr/>
          <a:lstStyle/>
          <a:p>
            <a:endParaRPr lang="en-SA"/>
          </a:p>
        </p:txBody>
      </p:sp>
      <p:sp>
        <p:nvSpPr>
          <p:cNvPr id="16" name="Shape 13"/>
          <p:cNvSpPr/>
          <p:nvPr/>
        </p:nvSpPr>
        <p:spPr>
          <a:xfrm>
            <a:off x="3459480" y="4251960"/>
            <a:ext cx="2103120" cy="822960"/>
          </a:xfrm>
          <a:prstGeom prst="roundRect">
            <a:avLst>
              <a:gd name="adj" fmla="val 6667"/>
            </a:avLst>
          </a:prstGeom>
          <a:solidFill>
            <a:srgbClr val="FBF6F6"/>
          </a:solidFill>
          <a:ln w="12700">
            <a:solidFill>
              <a:srgbClr val="E7E1DF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7" name="Text 14"/>
          <p:cNvSpPr/>
          <p:nvPr/>
        </p:nvSpPr>
        <p:spPr>
          <a:xfrm>
            <a:off x="3550920" y="425196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books and gives blood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367016" y="3465576"/>
            <a:ext cx="566928" cy="566928"/>
          </a:xfrm>
          <a:prstGeom prst="ellipse">
            <a:avLst/>
          </a:prstGeom>
          <a:solidFill>
            <a:srgbClr val="990011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9" name="Text 16"/>
          <p:cNvSpPr/>
          <p:nvPr/>
        </p:nvSpPr>
        <p:spPr>
          <a:xfrm>
            <a:off x="7367016" y="34655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7650480" y="3154680"/>
            <a:ext cx="0" cy="310896"/>
          </a:xfrm>
          <a:prstGeom prst="line">
            <a:avLst/>
          </a:prstGeom>
          <a:noFill/>
          <a:ln w="15875">
            <a:solidFill>
              <a:srgbClr val="E7E1DF"/>
            </a:solidFill>
            <a:prstDash val="dash"/>
          </a:ln>
        </p:spPr>
        <p:txBody>
          <a:bodyPr/>
          <a:lstStyle/>
          <a:p>
            <a:endParaRPr lang="en-SA"/>
          </a:p>
        </p:txBody>
      </p:sp>
      <p:sp>
        <p:nvSpPr>
          <p:cNvPr id="21" name="Shape 18"/>
          <p:cNvSpPr/>
          <p:nvPr/>
        </p:nvSpPr>
        <p:spPr>
          <a:xfrm>
            <a:off x="6598920" y="2331720"/>
            <a:ext cx="2103120" cy="822960"/>
          </a:xfrm>
          <a:prstGeom prst="roundRect">
            <a:avLst>
              <a:gd name="adj" fmla="val 6667"/>
            </a:avLst>
          </a:prstGeom>
          <a:solidFill>
            <a:srgbClr val="FBF6F6"/>
          </a:solidFill>
          <a:ln w="12700">
            <a:solidFill>
              <a:srgbClr val="E7E1DF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2" name="Text 19"/>
          <p:cNvSpPr/>
          <p:nvPr/>
        </p:nvSpPr>
        <p:spPr>
          <a:xfrm>
            <a:off x="6690360" y="23317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 unit enters inventory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10506456" y="3465576"/>
            <a:ext cx="566928" cy="566928"/>
          </a:xfrm>
          <a:prstGeom prst="ellipse">
            <a:avLst/>
          </a:prstGeom>
          <a:solidFill>
            <a:srgbClr val="990011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4" name="Text 21"/>
          <p:cNvSpPr/>
          <p:nvPr/>
        </p:nvSpPr>
        <p:spPr>
          <a:xfrm>
            <a:off x="10506456" y="34655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10789920" y="4032504"/>
            <a:ext cx="0" cy="219456"/>
          </a:xfrm>
          <a:prstGeom prst="line">
            <a:avLst/>
          </a:prstGeom>
          <a:noFill/>
          <a:ln w="15875">
            <a:solidFill>
              <a:srgbClr val="E7E1DF"/>
            </a:solidFill>
            <a:prstDash val="dash"/>
          </a:ln>
        </p:spPr>
        <p:txBody>
          <a:bodyPr/>
          <a:lstStyle/>
          <a:p>
            <a:endParaRPr lang="en-SA"/>
          </a:p>
        </p:txBody>
      </p:sp>
      <p:sp>
        <p:nvSpPr>
          <p:cNvPr id="26" name="Shape 23"/>
          <p:cNvSpPr/>
          <p:nvPr/>
        </p:nvSpPr>
        <p:spPr>
          <a:xfrm>
            <a:off x="9738360" y="4251960"/>
            <a:ext cx="2103120" cy="822960"/>
          </a:xfrm>
          <a:prstGeom prst="roundRect">
            <a:avLst>
              <a:gd name="adj" fmla="val 6667"/>
            </a:avLst>
          </a:prstGeom>
          <a:solidFill>
            <a:srgbClr val="FBF6F6"/>
          </a:solidFill>
          <a:ln w="12700">
            <a:solidFill>
              <a:srgbClr val="E7E1DF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7" name="Text 24"/>
          <p:cNvSpPr/>
          <p:nvPr/>
        </p:nvSpPr>
        <p:spPr>
          <a:xfrm>
            <a:off x="9829800" y="425196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matches and fulfils the request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System. Three Views.</a:t>
            </a:r>
            <a:endParaRPr lang="en-US" sz="3000" dirty="0"/>
          </a:p>
        </p:txBody>
      </p:sp>
      <p:pic>
        <p:nvPicPr>
          <p:cNvPr id="4" name="Image 0" descr="/home/claude/pptx_work/assets/logo_d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382512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63825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LIFEFLOW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93776" y="1636776"/>
            <a:ext cx="3721608" cy="2624328"/>
          </a:xfrm>
          <a:prstGeom prst="roundRect">
            <a:avLst>
              <a:gd name="adj" fmla="val 1742"/>
            </a:avLst>
          </a:prstGeom>
          <a:solidFill>
            <a:srgbClr val="FFFFFF"/>
          </a:solidFill>
          <a:ln w="19050">
            <a:solidFill>
              <a:srgbClr val="E7E1DF"/>
            </a:solidFill>
            <a:prstDash val="solid"/>
          </a:ln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pic>
        <p:nvPicPr>
          <p:cNvPr id="8" name="Image 1" descr="/home/claude/pptx_work/assets/screenshot_admin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8640" y="1691640"/>
            <a:ext cx="3611880" cy="2514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" y="4407408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548640" y="4736592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and priority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361688" y="1636776"/>
            <a:ext cx="3721608" cy="2624328"/>
          </a:xfrm>
          <a:prstGeom prst="roundRect">
            <a:avLst>
              <a:gd name="adj" fmla="val 1742"/>
            </a:avLst>
          </a:prstGeom>
          <a:solidFill>
            <a:srgbClr val="FFFFFF"/>
          </a:solidFill>
          <a:ln w="19050">
            <a:solidFill>
              <a:srgbClr val="E7E1DF"/>
            </a:solidFill>
            <a:prstDash val="solid"/>
          </a:ln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pic>
        <p:nvPicPr>
          <p:cNvPr id="12" name="Image 2" descr="/home/claude/pptx_work/assets/screenshot_donor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416552" y="1691640"/>
            <a:ext cx="3611880" cy="2514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416552" y="4407408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DONOR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4416552" y="4736592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and appointments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8229600" y="1636776"/>
            <a:ext cx="3721608" cy="2624328"/>
          </a:xfrm>
          <a:prstGeom prst="roundRect">
            <a:avLst>
              <a:gd name="adj" fmla="val 1742"/>
            </a:avLst>
          </a:prstGeom>
          <a:solidFill>
            <a:srgbClr val="FFFFFF"/>
          </a:solidFill>
          <a:ln w="19050">
            <a:solidFill>
              <a:srgbClr val="E7E1DF"/>
            </a:solidFill>
            <a:prstDash val="solid"/>
          </a:ln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pic>
        <p:nvPicPr>
          <p:cNvPr id="16" name="Image 3" descr="/home/claude/pptx_work/assets/screenshot_hospital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284464" y="1691640"/>
            <a:ext cx="3611880" cy="25146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284464" y="4407408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8284464" y="4736592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and donations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underlying data. Each portal only shows what that role needs to act on.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Architecture</a:t>
            </a:r>
            <a:endParaRPr lang="en-US" sz="3000" dirty="0"/>
          </a:p>
        </p:txBody>
      </p:sp>
      <p:pic>
        <p:nvPicPr>
          <p:cNvPr id="4" name="Image 0" descr="/home/claude/pptx_work/assets/logo_d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382512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63825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LIFEFLOW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822960" y="1600200"/>
            <a:ext cx="6035040" cy="566928"/>
          </a:xfrm>
          <a:prstGeom prst="roundRect">
            <a:avLst>
              <a:gd name="adj" fmla="val 9677"/>
            </a:avLst>
          </a:prstGeom>
          <a:solidFill>
            <a:srgbClr val="990011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8" name="Text 5"/>
          <p:cNvSpPr/>
          <p:nvPr/>
        </p:nvSpPr>
        <p:spPr>
          <a:xfrm>
            <a:off x="1051560" y="1600200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kern="0" spc="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SWING USER INTERFACE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22960" y="2176272"/>
            <a:ext cx="6035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Donor, and Hospital screens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840480" y="2167128"/>
            <a:ext cx="0" cy="164592"/>
          </a:xfrm>
          <a:prstGeom prst="line">
            <a:avLst/>
          </a:prstGeom>
          <a:noFill/>
          <a:ln w="19050">
            <a:solidFill>
              <a:srgbClr val="6E6E6E"/>
            </a:solidFill>
            <a:prstDash val="solid"/>
            <a:tailEnd type="triangle"/>
          </a:ln>
        </p:spPr>
        <p:txBody>
          <a:bodyPr/>
          <a:lstStyle/>
          <a:p>
            <a:endParaRPr lang="en-SA"/>
          </a:p>
        </p:txBody>
      </p:sp>
      <p:sp>
        <p:nvSpPr>
          <p:cNvPr id="11" name="Shape 8"/>
          <p:cNvSpPr/>
          <p:nvPr/>
        </p:nvSpPr>
        <p:spPr>
          <a:xfrm>
            <a:off x="822960" y="2496312"/>
            <a:ext cx="6035040" cy="566928"/>
          </a:xfrm>
          <a:prstGeom prst="roundRect">
            <a:avLst>
              <a:gd name="adj" fmla="val 9677"/>
            </a:avLst>
          </a:prstGeom>
          <a:solidFill>
            <a:srgbClr val="B85042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2" name="Text 9"/>
          <p:cNvSpPr/>
          <p:nvPr/>
        </p:nvSpPr>
        <p:spPr>
          <a:xfrm>
            <a:off x="1051560" y="2496312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kern="0" spc="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LIFEFLOW CONTROLLER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22960" y="3072384"/>
            <a:ext cx="6035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entry point — a Facade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840480" y="3063240"/>
            <a:ext cx="0" cy="164592"/>
          </a:xfrm>
          <a:prstGeom prst="line">
            <a:avLst/>
          </a:prstGeom>
          <a:noFill/>
          <a:ln w="19050">
            <a:solidFill>
              <a:srgbClr val="6E6E6E"/>
            </a:solidFill>
            <a:prstDash val="solid"/>
            <a:tailEnd type="triangle"/>
          </a:ln>
        </p:spPr>
        <p:txBody>
          <a:bodyPr/>
          <a:lstStyle/>
          <a:p>
            <a:endParaRPr lang="en-SA"/>
          </a:p>
        </p:txBody>
      </p:sp>
      <p:sp>
        <p:nvSpPr>
          <p:cNvPr id="15" name="Shape 12"/>
          <p:cNvSpPr/>
          <p:nvPr/>
        </p:nvSpPr>
        <p:spPr>
          <a:xfrm>
            <a:off x="822960" y="3392424"/>
            <a:ext cx="6035040" cy="566928"/>
          </a:xfrm>
          <a:prstGeom prst="roundRect">
            <a:avLst>
              <a:gd name="adj" fmla="val 9677"/>
            </a:avLst>
          </a:prstGeom>
          <a:solidFill>
            <a:srgbClr val="B85042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6" name="Text 13"/>
          <p:cNvSpPr/>
          <p:nvPr/>
        </p:nvSpPr>
        <p:spPr>
          <a:xfrm>
            <a:off x="1051560" y="3392424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kern="0" spc="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SERVICES &amp; RULES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822960" y="3968496"/>
            <a:ext cx="6035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Matching, eligibility, validation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840480" y="3959352"/>
            <a:ext cx="0" cy="164592"/>
          </a:xfrm>
          <a:prstGeom prst="line">
            <a:avLst/>
          </a:prstGeom>
          <a:noFill/>
          <a:ln w="19050">
            <a:solidFill>
              <a:srgbClr val="6E6E6E"/>
            </a:solidFill>
            <a:prstDash val="solid"/>
            <a:tailEnd type="triangle"/>
          </a:ln>
        </p:spPr>
        <p:txBody>
          <a:bodyPr/>
          <a:lstStyle/>
          <a:p>
            <a:endParaRPr lang="en-SA"/>
          </a:p>
        </p:txBody>
      </p:sp>
      <p:sp>
        <p:nvSpPr>
          <p:cNvPr id="19" name="Shape 16"/>
          <p:cNvSpPr/>
          <p:nvPr/>
        </p:nvSpPr>
        <p:spPr>
          <a:xfrm>
            <a:off x="822960" y="4288536"/>
            <a:ext cx="6035040" cy="566928"/>
          </a:xfrm>
          <a:prstGeom prst="roundRect">
            <a:avLst>
              <a:gd name="adj" fmla="val 9677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0" name="Text 17"/>
          <p:cNvSpPr/>
          <p:nvPr/>
        </p:nvSpPr>
        <p:spPr>
          <a:xfrm>
            <a:off x="1051560" y="4288536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kern="0" spc="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SNAPSHOT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822960" y="4864608"/>
            <a:ext cx="6035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consistent in-memory state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840480" y="4855464"/>
            <a:ext cx="0" cy="164592"/>
          </a:xfrm>
          <a:prstGeom prst="line">
            <a:avLst/>
          </a:prstGeom>
          <a:noFill/>
          <a:ln w="19050">
            <a:solidFill>
              <a:srgbClr val="6E6E6E"/>
            </a:solidFill>
            <a:prstDash val="solid"/>
            <a:tailEnd type="triangle"/>
          </a:ln>
        </p:spPr>
        <p:txBody>
          <a:bodyPr/>
          <a:lstStyle/>
          <a:p>
            <a:endParaRPr lang="en-SA"/>
          </a:p>
        </p:txBody>
      </p:sp>
      <p:sp>
        <p:nvSpPr>
          <p:cNvPr id="23" name="Shape 20"/>
          <p:cNvSpPr/>
          <p:nvPr/>
        </p:nvSpPr>
        <p:spPr>
          <a:xfrm>
            <a:off x="822960" y="5184648"/>
            <a:ext cx="6035040" cy="566928"/>
          </a:xfrm>
          <a:prstGeom prst="roundRect">
            <a:avLst>
              <a:gd name="adj" fmla="val 9677"/>
            </a:avLst>
          </a:prstGeom>
          <a:solidFill>
            <a:srgbClr val="69A29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4" name="Text 21"/>
          <p:cNvSpPr/>
          <p:nvPr/>
        </p:nvSpPr>
        <p:spPr>
          <a:xfrm>
            <a:off x="1051560" y="5184648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kern="0" spc="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JSON STORE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822960" y="5760720"/>
            <a:ext cx="6035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Checksummed, atomic, backed up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7223760" y="1920240"/>
            <a:ext cx="4434840" cy="3017520"/>
          </a:xfrm>
          <a:prstGeom prst="roundRect">
            <a:avLst>
              <a:gd name="adj" fmla="val 2121"/>
            </a:avLst>
          </a:prstGeom>
          <a:solidFill>
            <a:srgbClr val="F4EAEA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7" name="Text 24"/>
          <p:cNvSpPr/>
          <p:nvPr/>
        </p:nvSpPr>
        <p:spPr>
          <a:xfrm>
            <a:off x="7498080" y="219456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interface never touches data directly.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7498080" y="2880360"/>
            <a:ext cx="388620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 calls one controller. The controller checks whether the action is allowed, applies the business rules, and saves one complete, consistent snapshot to the verified JSON store — never a partial update.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PRINCIPLE 01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Encapsulation — Protecting the Data</a:t>
            </a:r>
            <a:endParaRPr lang="en-US" sz="3000" dirty="0"/>
          </a:p>
        </p:txBody>
      </p:sp>
      <p:pic>
        <p:nvPicPr>
          <p:cNvPr id="4" name="Image 0" descr="/home/claude/pptx_work/assets/logo_d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382512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63825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LIFEFLOW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777240" cy="777240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8" name="Image 1" descr="/home/claude/pptx_work/assets/icons/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681" y="1929841"/>
            <a:ext cx="575158" cy="57515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1828800"/>
            <a:ext cx="4709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object's internal data stays private. The only way in or out is through methods the object controls itself.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48640" y="3200400"/>
            <a:ext cx="5669280" cy="0"/>
          </a:xfrm>
          <a:prstGeom prst="line">
            <a:avLst/>
          </a:prstGeom>
          <a:noFill/>
          <a:ln w="12700">
            <a:solidFill>
              <a:srgbClr val="E7E1DF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1" name="Text 7"/>
          <p:cNvSpPr/>
          <p:nvPr/>
        </p:nvSpPr>
        <p:spPr>
          <a:xfrm>
            <a:off x="548640" y="3383280"/>
            <a:ext cx="5669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Donor: </a:t>
            </a: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fields are private. Nothing outside the class can set a donor's age directly — every change goes through </a:t>
            </a:r>
            <a:r>
              <a:rPr lang="en-US" sz="1300" dirty="0">
                <a:solidFill>
                  <a:srgbClr val="9900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updateDetails()</a:t>
            </a: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which validates first.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48640" y="4343400"/>
            <a:ext cx="5669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Defensive copying: </a:t>
            </a: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LifeFlowState.getDonors() never returns the real list — it returns a fresh copy every time, so no outside code can add or remove donors without going through the controller.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92240" y="1828800"/>
            <a:ext cx="5166360" cy="4297680"/>
          </a:xfrm>
          <a:prstGeom prst="roundRect">
            <a:avLst>
              <a:gd name="adj" fmla="val 1277"/>
            </a:avLst>
          </a:prstGeom>
          <a:solidFill>
            <a:srgbClr val="1E1720"/>
          </a:solidFill>
          <a:ln/>
        </p:spPr>
        <p:txBody>
          <a:bodyPr/>
          <a:lstStyle/>
          <a:p>
            <a:pPr marL="0" algn="r" defTabSz="914400" rtl="1" eaLnBrk="1" latinLnBrk="0" hangingPunct="1"/>
            <a:endParaRPr lang="en-SA"/>
          </a:p>
        </p:txBody>
      </p:sp>
      <p:sp>
        <p:nvSpPr>
          <p:cNvPr id="14" name="Shape 10"/>
          <p:cNvSpPr/>
          <p:nvPr/>
        </p:nvSpPr>
        <p:spPr>
          <a:xfrm>
            <a:off x="6720840" y="2029968"/>
            <a:ext cx="128016" cy="128016"/>
          </a:xfrm>
          <a:prstGeom prst="ellipse">
            <a:avLst/>
          </a:prstGeom>
          <a:solidFill>
            <a:srgbClr val="E85B5B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5" name="Shape 11"/>
          <p:cNvSpPr/>
          <p:nvPr/>
        </p:nvSpPr>
        <p:spPr>
          <a:xfrm>
            <a:off x="6922008" y="2029968"/>
            <a:ext cx="128016" cy="128016"/>
          </a:xfrm>
          <a:prstGeom prst="ellipse">
            <a:avLst/>
          </a:prstGeom>
          <a:solidFill>
            <a:srgbClr val="E8C15B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6" name="Shape 12"/>
          <p:cNvSpPr/>
          <p:nvPr/>
        </p:nvSpPr>
        <p:spPr>
          <a:xfrm>
            <a:off x="7123176" y="2029968"/>
            <a:ext cx="128016" cy="128016"/>
          </a:xfrm>
          <a:prstGeom prst="ellipse">
            <a:avLst/>
          </a:prstGeom>
          <a:solidFill>
            <a:srgbClr val="5BE87A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7" name="Text 13"/>
          <p:cNvSpPr/>
          <p:nvPr/>
        </p:nvSpPr>
        <p:spPr>
          <a:xfrm>
            <a:off x="6492240" y="1956816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Donor.java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766560" y="2423160"/>
            <a:ext cx="4617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D6C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Donor implements Identifiable {
</a:t>
            </a:r>
            <a:r>
              <a:rPr lang="en-US" sz="1150" dirty="0">
                <a:solidFill>
                  <a:srgbClr val="F0B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String name;
    private int age;
    private BloodType bloodType;
</a:t>
            </a:r>
            <a:r>
              <a:rPr lang="en-US" sz="1150" dirty="0">
                <a:solidFill>
                  <a:srgbClr val="9FD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String getName() { return name; }
    public void updateDetails(
            String name, int age,
            BloodType bloodType) {
</a:t>
            </a:r>
            <a:r>
              <a:rPr lang="en-US" sz="1150" i="1" dirty="0">
                <a:solidFill>
                  <a:srgbClr val="8A7F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validation happens here first
</a:t>
            </a:r>
            <a:r>
              <a:rPr lang="en-US" sz="1150" dirty="0">
                <a:solidFill>
                  <a:srgbClr val="D6C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this.name = name;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D6C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this.age = age;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D6C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this.bloodType = bloodType;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D6C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D6C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PRINCIPLES 02–04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OOP That Changes Real Behaviour</a:t>
            </a:r>
            <a:endParaRPr lang="en-US" sz="3000" dirty="0"/>
          </a:p>
        </p:txBody>
      </p:sp>
      <p:pic>
        <p:nvPicPr>
          <p:cNvPr id="4" name="Image 0" descr="/home/claude/pptx_work/assets/logo_d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382512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63825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LIFEFLOW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3520440" cy="4343400"/>
          </a:xfrm>
          <a:prstGeom prst="roundRect">
            <a:avLst>
              <a:gd name="adj" fmla="val 1818"/>
            </a:avLst>
          </a:prstGeom>
          <a:solidFill>
            <a:srgbClr val="FBF6F6"/>
          </a:solidFill>
          <a:ln w="12700">
            <a:solidFill>
              <a:srgbClr val="E7E1DF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8" name="Shape 5"/>
          <p:cNvSpPr/>
          <p:nvPr/>
        </p:nvSpPr>
        <p:spPr>
          <a:xfrm>
            <a:off x="3337560" y="196596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990011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9" name="Text 6"/>
          <p:cNvSpPr/>
          <p:nvPr/>
        </p:nvSpPr>
        <p:spPr>
          <a:xfrm>
            <a:off x="3337560" y="19659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68680" y="1984248"/>
            <a:ext cx="777240" cy="77724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11" name="Image 1" descr="/home/claude/pptx_work/assets/icons/puzz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721" y="2085289"/>
            <a:ext cx="575158" cy="57515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68680" y="292608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kern="0" spc="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ABSTRACTION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868680" y="3383280"/>
            <a:ext cx="288036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BloodRequest is abstract and defines shared data plus required behaviour — getPriority() and getKind() — without saying how. LifeFlowStore does the same for storage: load(), save(), nothing about JSON.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343400" y="1691640"/>
            <a:ext cx="3520440" cy="4343400"/>
          </a:xfrm>
          <a:prstGeom prst="roundRect">
            <a:avLst>
              <a:gd name="adj" fmla="val 1818"/>
            </a:avLst>
          </a:prstGeom>
          <a:solidFill>
            <a:srgbClr val="FBF6F6"/>
          </a:solidFill>
          <a:ln w="12700">
            <a:solidFill>
              <a:srgbClr val="E7E1DF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5" name="Shape 11"/>
          <p:cNvSpPr/>
          <p:nvPr/>
        </p:nvSpPr>
        <p:spPr>
          <a:xfrm>
            <a:off x="7132320" y="196596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990011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6" name="Text 12"/>
          <p:cNvSpPr/>
          <p:nvPr/>
        </p:nvSpPr>
        <p:spPr>
          <a:xfrm>
            <a:off x="7132320" y="19659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4663440" y="1984248"/>
            <a:ext cx="777240" cy="77724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18" name="Image 2" descr="/home/claude/pptx_work/assets/icons/site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4481" y="2085289"/>
            <a:ext cx="575158" cy="57515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663440" y="292608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kern="0" spc="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INHERITANCE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4663440" y="3383280"/>
            <a:ext cx="288036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RegularRequest and EmergencyRequest both extend BloodRequest. They reuse its fields and shared methods like markFulfilled(), adding only what's actually different.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8138160" y="1691640"/>
            <a:ext cx="3520440" cy="4343400"/>
          </a:xfrm>
          <a:prstGeom prst="roundRect">
            <a:avLst>
              <a:gd name="adj" fmla="val 1818"/>
            </a:avLst>
          </a:prstGeom>
          <a:solidFill>
            <a:srgbClr val="FBF6F6"/>
          </a:solidFill>
          <a:ln w="12700">
            <a:solidFill>
              <a:srgbClr val="E7E1DF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2" name="Shape 17"/>
          <p:cNvSpPr/>
          <p:nvPr/>
        </p:nvSpPr>
        <p:spPr>
          <a:xfrm>
            <a:off x="10927080" y="196596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990011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3" name="Text 18"/>
          <p:cNvSpPr/>
          <p:nvPr/>
        </p:nvSpPr>
        <p:spPr>
          <a:xfrm>
            <a:off x="10927080" y="19659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24" name="Shape 19"/>
          <p:cNvSpPr/>
          <p:nvPr/>
        </p:nvSpPr>
        <p:spPr>
          <a:xfrm>
            <a:off x="8458200" y="1984248"/>
            <a:ext cx="777240" cy="77724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25" name="Image 3" descr="/home/claude/pptx_work/assets/icons/rando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9241" y="2085289"/>
            <a:ext cx="575158" cy="57515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458200" y="292608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kern="0" spc="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POLYMORPHISM</a:t>
            </a:r>
            <a:endParaRPr lang="en-US" sz="1550" dirty="0"/>
          </a:p>
        </p:txBody>
      </p:sp>
      <p:sp>
        <p:nvSpPr>
          <p:cNvPr id="27" name="Text 21"/>
          <p:cNvSpPr/>
          <p:nvPr/>
        </p:nvSpPr>
        <p:spPr>
          <a:xfrm>
            <a:off x="8458200" y="3383280"/>
            <a:ext cx="288036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override getPriority() with different values — 1 or 2. MatchingService calls it through a BloodRequest reference, and the correct version runs at runtime, with no if-statement checking the type.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 IN ACTION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Matching Engine Decides</a:t>
            </a:r>
            <a:endParaRPr lang="en-US" sz="3000" dirty="0"/>
          </a:p>
        </p:txBody>
      </p:sp>
      <p:pic>
        <p:nvPicPr>
          <p:cNvPr id="4" name="Image 0" descr="/home/claude/pptx_work/assets/logo_d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382512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63825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LIFEFLOW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371600" y="3749040"/>
            <a:ext cx="9418320" cy="0"/>
          </a:xfrm>
          <a:prstGeom prst="line">
            <a:avLst/>
          </a:prstGeom>
          <a:noFill/>
          <a:ln w="25400">
            <a:solidFill>
              <a:srgbClr val="E7E1DF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8" name="Shape 5"/>
          <p:cNvSpPr/>
          <p:nvPr/>
        </p:nvSpPr>
        <p:spPr>
          <a:xfrm>
            <a:off x="1088136" y="3465576"/>
            <a:ext cx="566928" cy="566928"/>
          </a:xfrm>
          <a:prstGeom prst="ellipse">
            <a:avLst/>
          </a:prstGeom>
          <a:solidFill>
            <a:srgbClr val="990011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9" name="Text 6"/>
          <p:cNvSpPr/>
          <p:nvPr/>
        </p:nvSpPr>
        <p:spPr>
          <a:xfrm>
            <a:off x="1088136" y="34655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320040" y="2331720"/>
            <a:ext cx="2103120" cy="822960"/>
          </a:xfrm>
          <a:prstGeom prst="roundRect">
            <a:avLst>
              <a:gd name="adj" fmla="val 6667"/>
            </a:avLst>
          </a:prstGeom>
          <a:solidFill>
            <a:srgbClr val="FBF6F6"/>
          </a:solidFill>
          <a:ln w="12700">
            <a:solidFill>
              <a:srgbClr val="E7E1DF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1" name="Text 8"/>
          <p:cNvSpPr/>
          <p:nvPr/>
        </p:nvSpPr>
        <p:spPr>
          <a:xfrm>
            <a:off x="411480" y="23317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requests</a:t>
            </a:r>
            <a:endParaRPr lang="en-US" sz="12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first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227576" y="3465576"/>
            <a:ext cx="566928" cy="566928"/>
          </a:xfrm>
          <a:prstGeom prst="ellipse">
            <a:avLst/>
          </a:prstGeom>
          <a:solidFill>
            <a:srgbClr val="990011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3" name="Text 10"/>
          <p:cNvSpPr/>
          <p:nvPr/>
        </p:nvSpPr>
        <p:spPr>
          <a:xfrm>
            <a:off x="4227576" y="34655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3459480" y="4251960"/>
            <a:ext cx="2103120" cy="822960"/>
          </a:xfrm>
          <a:prstGeom prst="roundRect">
            <a:avLst>
              <a:gd name="adj" fmla="val 6667"/>
            </a:avLst>
          </a:prstGeom>
          <a:solidFill>
            <a:srgbClr val="FBF6F6"/>
          </a:solidFill>
          <a:ln w="12700">
            <a:solidFill>
              <a:srgbClr val="E7E1DF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5" name="Text 12"/>
          <p:cNvSpPr/>
          <p:nvPr/>
        </p:nvSpPr>
        <p:spPr>
          <a:xfrm>
            <a:off x="3550920" y="425196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EXACT or</a:t>
            </a:r>
            <a:endParaRPr lang="en-US" sz="12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mode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367016" y="3465576"/>
            <a:ext cx="566928" cy="566928"/>
          </a:xfrm>
          <a:prstGeom prst="ellipse">
            <a:avLst/>
          </a:prstGeom>
          <a:solidFill>
            <a:srgbClr val="990011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7" name="Text 14"/>
          <p:cNvSpPr/>
          <p:nvPr/>
        </p:nvSpPr>
        <p:spPr>
          <a:xfrm>
            <a:off x="7367016" y="34655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6598920" y="2331720"/>
            <a:ext cx="2103120" cy="822960"/>
          </a:xfrm>
          <a:prstGeom prst="roundRect">
            <a:avLst>
              <a:gd name="adj" fmla="val 6667"/>
            </a:avLst>
          </a:prstGeom>
          <a:solidFill>
            <a:srgbClr val="FBF6F6"/>
          </a:solidFill>
          <a:ln w="12700">
            <a:solidFill>
              <a:srgbClr val="E7E1DF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9" name="Text 16"/>
          <p:cNvSpPr/>
          <p:nvPr/>
        </p:nvSpPr>
        <p:spPr>
          <a:xfrm>
            <a:off x="6690360" y="23317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used or</a:t>
            </a:r>
            <a:endParaRPr lang="en-US" sz="12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 units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10506456" y="3465576"/>
            <a:ext cx="566928" cy="566928"/>
          </a:xfrm>
          <a:prstGeom prst="ellipse">
            <a:avLst/>
          </a:prstGeom>
          <a:solidFill>
            <a:srgbClr val="990011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1" name="Text 18"/>
          <p:cNvSpPr/>
          <p:nvPr/>
        </p:nvSpPr>
        <p:spPr>
          <a:xfrm>
            <a:off x="10506456" y="34655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9738360" y="4251960"/>
            <a:ext cx="2103120" cy="822960"/>
          </a:xfrm>
          <a:prstGeom prst="roundRect">
            <a:avLst>
              <a:gd name="adj" fmla="val 6667"/>
            </a:avLst>
          </a:prstGeom>
          <a:solidFill>
            <a:srgbClr val="FBF6F6"/>
          </a:solidFill>
          <a:ln w="12700">
            <a:solidFill>
              <a:srgbClr val="E7E1DF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3" name="Text 20"/>
          <p:cNvSpPr/>
          <p:nvPr/>
        </p:nvSpPr>
        <p:spPr>
          <a:xfrm>
            <a:off x="9829800" y="425196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FEFO and require</a:t>
            </a:r>
            <a:endParaRPr lang="en-US" sz="12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quantity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1188720" y="507492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MatchingService.ORDER compares requests by getPriority() first, then by date, then by ID — one comparator, no branching by request type.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OOP Design — UML Class Diagram</a:t>
            </a:r>
            <a:endParaRPr lang="en-US" sz="2600" dirty="0"/>
          </a:p>
        </p:txBody>
      </p:sp>
      <p:pic>
        <p:nvPicPr>
          <p:cNvPr id="4" name="Image 0" descr="/home/claude/pptx_work/assets/logo_d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382512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63825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LIFEFLOW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pic>
        <p:nvPicPr>
          <p:cNvPr id="7" name="Image 1" descr="/home/claude/pptx_work/assets/uml_class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0153" y="1234440"/>
            <a:ext cx="7451389" cy="4846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6172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Hollow triangle = extends (inheritance)   </a:t>
            </a:r>
            <a:r>
              <a:rPr lang="en-US" sz="1050" i="1" dirty="0">
                <a:solidFill>
                  <a:srgbClr val="E7E1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</a:t>
            </a:r>
            <a:r>
              <a:rPr lang="en-US" sz="10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Dashed hollow triangle = implements (interface)   </a:t>
            </a:r>
            <a:r>
              <a:rPr lang="en-US" sz="1050" i="1" dirty="0">
                <a:solidFill>
                  <a:srgbClr val="E7E1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</a:t>
            </a:r>
            <a:r>
              <a:rPr lang="en-US" sz="10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arrow = uses / association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6E00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F6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Reliable Local Storage</a:t>
            </a:r>
            <a:endParaRPr lang="en-US" sz="3000" dirty="0"/>
          </a:p>
        </p:txBody>
      </p:sp>
      <p:pic>
        <p:nvPicPr>
          <p:cNvPr id="4" name="Image 0" descr="/home/claude/pptx_work/assets/logo_d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53763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6453763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LIFEFLOW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5257800" cy="2103120"/>
          </a:xfrm>
          <a:prstGeom prst="roundRect">
            <a:avLst>
              <a:gd name="adj" fmla="val 304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8" name="Shape 5"/>
          <p:cNvSpPr/>
          <p:nvPr/>
        </p:nvSpPr>
        <p:spPr>
          <a:xfrm>
            <a:off x="868680" y="2194560"/>
            <a:ext cx="685800" cy="685800"/>
          </a:xfrm>
          <a:prstGeom prst="ellipse">
            <a:avLst/>
          </a:prstGeom>
          <a:solidFill>
            <a:srgbClr val="C4212E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9" name="Image 1" descr="/home/claude/pptx_work/assets/icons/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834" y="2283714"/>
            <a:ext cx="507492" cy="5074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20640" y="2130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6C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737360" y="214884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CHECKSUM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868680" y="2926080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F0D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detects changed or incomplete JSON data before it is accepted.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172200" y="1874520"/>
            <a:ext cx="5257800" cy="2103120"/>
          </a:xfrm>
          <a:prstGeom prst="roundRect">
            <a:avLst>
              <a:gd name="adj" fmla="val 304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4" name="Shape 10"/>
          <p:cNvSpPr/>
          <p:nvPr/>
        </p:nvSpPr>
        <p:spPr>
          <a:xfrm>
            <a:off x="6492240" y="2194560"/>
            <a:ext cx="685800" cy="685800"/>
          </a:xfrm>
          <a:prstGeom prst="ellipse">
            <a:avLst/>
          </a:prstGeom>
          <a:solidFill>
            <a:srgbClr val="C4212E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15" name="Image 2" descr="/home/claude/pptx_work/assets/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1394" y="2283714"/>
            <a:ext cx="507492" cy="50749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744200" y="2130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6C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7360920" y="214884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ATOMIC SAVE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492240" y="2926080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F0D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validated temporary file replaces the primary file in one safe step.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4297680"/>
            <a:ext cx="5257800" cy="2103120"/>
          </a:xfrm>
          <a:prstGeom prst="roundRect">
            <a:avLst>
              <a:gd name="adj" fmla="val 304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0" name="Shape 15"/>
          <p:cNvSpPr/>
          <p:nvPr/>
        </p:nvSpPr>
        <p:spPr>
          <a:xfrm>
            <a:off x="868680" y="4617720"/>
            <a:ext cx="685800" cy="685800"/>
          </a:xfrm>
          <a:prstGeom prst="ellipse">
            <a:avLst/>
          </a:prstGeom>
          <a:solidFill>
            <a:srgbClr val="C4212E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21" name="Image 3" descr="/home/claude/pptx_work/assets/icons/layer-grou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7834" y="4706874"/>
            <a:ext cx="507492" cy="50749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120640" y="4553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6C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1737360" y="457200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 &amp; MIGRATION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868680" y="5349240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F0D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backups recover data. Older formats migrate automatically on load.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6172200" y="4297680"/>
            <a:ext cx="5257800" cy="2103120"/>
          </a:xfrm>
          <a:prstGeom prst="roundRect">
            <a:avLst>
              <a:gd name="adj" fmla="val 304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6" name="Shape 20"/>
          <p:cNvSpPr/>
          <p:nvPr/>
        </p:nvSpPr>
        <p:spPr>
          <a:xfrm>
            <a:off x="6492240" y="4617720"/>
            <a:ext cx="685800" cy="685800"/>
          </a:xfrm>
          <a:prstGeom prst="ellipse">
            <a:avLst/>
          </a:prstGeom>
          <a:solidFill>
            <a:srgbClr val="C4212E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27" name="Image 4" descr="/home/claude/pptx_work/assets/icons/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1394" y="4706874"/>
            <a:ext cx="507492" cy="50749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744200" y="4553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6C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2"/>
          <p:cNvSpPr/>
          <p:nvPr/>
        </p:nvSpPr>
        <p:spPr>
          <a:xfrm>
            <a:off x="7360920" y="457200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WRITER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6492240" y="5349240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F0D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file lock prevents two app instances from writing to the same store.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Sample Outputs</a:t>
            </a:r>
            <a:endParaRPr lang="en-US" sz="3000" dirty="0"/>
          </a:p>
        </p:txBody>
      </p:sp>
      <p:pic>
        <p:nvPicPr>
          <p:cNvPr id="4" name="Image 0" descr="/home/claude/pptx_work/assets/logo_d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382512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63825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LIFEFLOW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3520440" cy="1371600"/>
          </a:xfrm>
          <a:prstGeom prst="roundRect">
            <a:avLst>
              <a:gd name="adj" fmla="val 4667"/>
            </a:avLst>
          </a:prstGeom>
          <a:solidFill>
            <a:srgbClr val="F4EAEA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8" name="Text 5"/>
          <p:cNvSpPr/>
          <p:nvPr/>
        </p:nvSpPr>
        <p:spPr>
          <a:xfrm>
            <a:off x="548640" y="1892808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48640" y="269748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kern="0" spc="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 test files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43400" y="1783080"/>
            <a:ext cx="3520440" cy="1371600"/>
          </a:xfrm>
          <a:prstGeom prst="roundRect">
            <a:avLst>
              <a:gd name="adj" fmla="val 4667"/>
            </a:avLst>
          </a:prstGeom>
          <a:solidFill>
            <a:srgbClr val="F4EAEA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1" name="Text 8"/>
          <p:cNvSpPr/>
          <p:nvPr/>
        </p:nvSpPr>
        <p:spPr>
          <a:xfrm>
            <a:off x="4343400" y="1892808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4343400" y="269748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kern="0" spc="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source files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138160" y="1783080"/>
            <a:ext cx="3520440" cy="1371600"/>
          </a:xfrm>
          <a:prstGeom prst="roundRect">
            <a:avLst>
              <a:gd name="adj" fmla="val 4667"/>
            </a:avLst>
          </a:prstGeom>
          <a:solidFill>
            <a:srgbClr val="F4EAEA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4" name="Text 11"/>
          <p:cNvSpPr/>
          <p:nvPr/>
        </p:nvSpPr>
        <p:spPr>
          <a:xfrm>
            <a:off x="8138160" y="1892808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0</a:t>
            </a:r>
            <a:endParaRPr lang="en-US" sz="4000" dirty="0"/>
          </a:p>
        </p:txBody>
      </p:sp>
      <p:sp>
        <p:nvSpPr>
          <p:cNvPr id="15" name="Text 12"/>
          <p:cNvSpPr/>
          <p:nvPr/>
        </p:nvSpPr>
        <p:spPr>
          <a:xfrm>
            <a:off x="8138160" y="269748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kern="0" spc="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· errors on last run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48640" y="3474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test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48640" y="3959352"/>
            <a:ext cx="91440" cy="91440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8" name="Text 15"/>
          <p:cNvSpPr/>
          <p:nvPr/>
        </p:nvSpPr>
        <p:spPr>
          <a:xfrm>
            <a:off x="777240" y="3831336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validation — donor and request data rejected when invalid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8640" y="4416552"/>
            <a:ext cx="91440" cy="91440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0" name="Text 17"/>
          <p:cNvSpPr/>
          <p:nvPr/>
        </p:nvSpPr>
        <p:spPr>
          <a:xfrm>
            <a:off x="777240" y="4288536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and priority logic — emergency-first, FEFO ordering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4873752"/>
            <a:ext cx="91440" cy="91440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2" name="Text 19"/>
          <p:cNvSpPr/>
          <p:nvPr/>
        </p:nvSpPr>
        <p:spPr>
          <a:xfrm>
            <a:off x="777240" y="4745736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rules — age, weight, and donation-interval checks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48640" y="5330952"/>
            <a:ext cx="91440" cy="91440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4" name="Text 21"/>
          <p:cNvSpPr/>
          <p:nvPr/>
        </p:nvSpPr>
        <p:spPr>
          <a:xfrm>
            <a:off x="777240" y="5202936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round-trip — save, reload, and checksum verification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492240" y="3474720"/>
            <a:ext cx="5166360" cy="2743200"/>
          </a:xfrm>
          <a:prstGeom prst="roundRect">
            <a:avLst>
              <a:gd name="adj" fmla="val 2000"/>
            </a:avLst>
          </a:prstGeom>
          <a:solidFill>
            <a:srgbClr val="1E172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6" name="Text 23"/>
          <p:cNvSpPr/>
          <p:nvPr/>
        </p:nvSpPr>
        <p:spPr>
          <a:xfrm>
            <a:off x="6720840" y="3621024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mvn test — sample output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766560" y="3977640"/>
            <a:ext cx="461772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D6C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Running lifeflow.service.MatchingServiceTest
</a:t>
            </a:r>
            <a:r>
              <a:rPr lang="en-US" sz="1100" dirty="0">
                <a:solidFill>
                  <a:srgbClr val="9FD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 run: 12, Failures: 0, Errors: 0
</a:t>
            </a:r>
            <a:r>
              <a:rPr lang="en-US" sz="1100" dirty="0">
                <a:solidFill>
                  <a:srgbClr val="D6C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Running lifeflow.persistence.JsonLifeFlowStoreTest
</a:t>
            </a:r>
            <a:r>
              <a:rPr lang="en-US" sz="1100" dirty="0">
                <a:solidFill>
                  <a:srgbClr val="9FD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 run: 9, Failures: 0, Errors: 0
</a:t>
            </a:r>
            <a:r>
              <a:rPr lang="en-US" sz="1100" dirty="0">
                <a:solidFill>
                  <a:srgbClr val="D6C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Running lifeflow.service.DonationPolicyTest
</a:t>
            </a:r>
            <a:r>
              <a:rPr lang="en-US" sz="1100" dirty="0">
                <a:solidFill>
                  <a:srgbClr val="9FD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 run: 7, Failures: 0, Errors: 0
</a:t>
            </a:r>
            <a:r>
              <a:rPr lang="en-US" sz="1100" b="1" dirty="0">
                <a:solidFill>
                  <a:srgbClr val="9FD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SUCCESS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ASSESSMENT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&amp; Limitations</a:t>
            </a:r>
            <a:endParaRPr lang="en-US" sz="3000" dirty="0"/>
          </a:p>
        </p:txBody>
      </p:sp>
      <p:pic>
        <p:nvPicPr>
          <p:cNvPr id="4" name="Image 0" descr="/home/claude/pptx_work/assets/logo_d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382512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63825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LIFEFLOW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5257800" cy="4206240"/>
          </a:xfrm>
          <a:prstGeom prst="roundRect">
            <a:avLst>
              <a:gd name="adj" fmla="val 1522"/>
            </a:avLst>
          </a:prstGeom>
          <a:solidFill>
            <a:srgbClr val="EAF3EF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8" name="Shape 5"/>
          <p:cNvSpPr/>
          <p:nvPr/>
        </p:nvSpPr>
        <p:spPr>
          <a:xfrm>
            <a:off x="868680" y="2103120"/>
            <a:ext cx="566928" cy="566928"/>
          </a:xfrm>
          <a:prstGeom prst="ellipse">
            <a:avLst/>
          </a:prstGeom>
          <a:solidFill>
            <a:srgbClr val="69A297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9" name="Image 1" descr="/home/claude/pptx_work/assets/icons/check-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381" y="2176821"/>
            <a:ext cx="419527" cy="41952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2167128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Works Well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822960" y="288036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188720" y="2880360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Emergency-first matching with FEFO, no manual triage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822960" y="36576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188720" y="3657600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Tamper-evident storage — checksum, atomic writes, backups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822960" y="44348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188720" y="4434840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role-based portals sharing one consistent data model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822960" y="521208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188720" y="5212080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principles genuinely drive behaviour, not just structure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172200" y="1783080"/>
            <a:ext cx="5257800" cy="4206240"/>
          </a:xfrm>
          <a:prstGeom prst="roundRect">
            <a:avLst>
              <a:gd name="adj" fmla="val 1522"/>
            </a:avLst>
          </a:prstGeom>
          <a:solidFill>
            <a:srgbClr val="FBF0EC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0" name="Shape 16"/>
          <p:cNvSpPr/>
          <p:nvPr/>
        </p:nvSpPr>
        <p:spPr>
          <a:xfrm>
            <a:off x="6492240" y="2103120"/>
            <a:ext cx="566928" cy="56692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21" name="Image 2" descr="/home/claude/pptx_work/assets/icons/triangle-ale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6569" y="2176821"/>
            <a:ext cx="383499" cy="383499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223760" y="2167128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3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Limitations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446520" y="288036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3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6812280" y="2880360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local JSON file — no multi-device or multi-user sync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6446520" y="36576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3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6812280" y="3657600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connected to real hospital or blood bank record systems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6446520" y="44348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3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6812280" y="4434840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medical or regulatory certification — a learning simulation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6446520" y="521208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3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6812280" y="5212080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relies on entered data, not lab or biometric checks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6E00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_extract/extracted/ppt/media/image8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0006">
              <a:alpha val="70000"/>
            </a:srgbClr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4" name="Text 1"/>
          <p:cNvSpPr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F6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48640" y="8229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Repeatable Demo.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283464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7" name="Text 4"/>
          <p:cNvSpPr/>
          <p:nvPr/>
        </p:nvSpPr>
        <p:spPr>
          <a:xfrm>
            <a:off x="548640" y="16916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FAILURES  ·  0 ERRORS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9" name="Text 6"/>
          <p:cNvSpPr/>
          <p:nvPr/>
        </p:nvSpPr>
        <p:spPr>
          <a:xfrm>
            <a:off x="54864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E00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188720" y="26517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emergency request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327355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2" name="Text 9"/>
          <p:cNvSpPr/>
          <p:nvPr/>
        </p:nvSpPr>
        <p:spPr>
          <a:xfrm>
            <a:off x="548640" y="3273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E00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88720" y="3273552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 donation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48640" y="389534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5" name="Text 12"/>
          <p:cNvSpPr/>
          <p:nvPr/>
        </p:nvSpPr>
        <p:spPr>
          <a:xfrm>
            <a:off x="548640" y="38953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E00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188720" y="3895344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full stock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48640" y="451713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8" name="Text 15"/>
          <p:cNvSpPr/>
          <p:nvPr/>
        </p:nvSpPr>
        <p:spPr>
          <a:xfrm>
            <a:off x="548640" y="45171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E00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188720" y="4517136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and confirm saved data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548640" y="5989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6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6E00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_extract/extracted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0006">
              <a:alpha val="75000"/>
            </a:srgbClr>
          </a:solidFill>
          <a:ln/>
        </p:spPr>
        <p:txBody>
          <a:bodyPr/>
          <a:lstStyle/>
          <a:p>
            <a:pPr marL="0" algn="r" defTabSz="914400" rtl="1" eaLnBrk="1" latinLnBrk="0" hangingPunct="1"/>
            <a:endParaRPr lang="en-SA"/>
          </a:p>
        </p:txBody>
      </p:sp>
      <p:pic>
        <p:nvPicPr>
          <p:cNvPr id="4" name="Image 1" descr="/home/claude/pptx_work/assets/logo_d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4368" y="1417320"/>
            <a:ext cx="822960" cy="8229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14400" y="2514600"/>
            <a:ext cx="103628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LifeFlow: Clear. Reliable.</a:t>
            </a:r>
            <a:endParaRPr lang="en-US" sz="3200" dirty="0"/>
          </a:p>
          <a:p>
            <a:pPr marL="0" indent="0" algn="ctr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to Explain.</a:t>
            </a:r>
            <a:endParaRPr lang="en-US" sz="3200" dirty="0"/>
          </a:p>
        </p:txBody>
      </p:sp>
      <p:sp>
        <p:nvSpPr>
          <p:cNvPr id="6" name="Text 2"/>
          <p:cNvSpPr/>
          <p:nvPr/>
        </p:nvSpPr>
        <p:spPr>
          <a:xfrm>
            <a:off x="0" y="41605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0D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welcome.</a:t>
            </a:r>
            <a:endParaRPr lang="en-US" sz="1500" dirty="0"/>
          </a:p>
        </p:txBody>
      </p:sp>
      <p:sp>
        <p:nvSpPr>
          <p:cNvPr id="7" name="Shape 3"/>
          <p:cNvSpPr/>
          <p:nvPr/>
        </p:nvSpPr>
        <p:spPr>
          <a:xfrm>
            <a:off x="4998568" y="4754880"/>
            <a:ext cx="219456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8" name="Text 4"/>
          <p:cNvSpPr/>
          <p:nvPr/>
        </p:nvSpPr>
        <p:spPr>
          <a:xfrm>
            <a:off x="0" y="493776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github.com/moha-r/LifeFlow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1375</Words>
  <Application>Microsoft Macintosh PowerPoint</Application>
  <PresentationFormat>Widescreen</PresentationFormat>
  <Paragraphs>236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ALI MOHAMMED  RIYADH YASEEN FAREA</cp:lastModifiedBy>
  <cp:revision>2</cp:revision>
  <dcterms:created xsi:type="dcterms:W3CDTF">2026-08-20T23:35:11Z</dcterms:created>
  <dcterms:modified xsi:type="dcterms:W3CDTF">2026-08-24T11:18:58Z</dcterms:modified>
</cp:coreProperties>
</file>