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55fece5aba4e45" /><Relationship Type="http://schemas.openxmlformats.org/officeDocument/2006/relationships/extended-properties" Target="/docProps/app.xml" Id="R8aa1f7f347f740c9" /><Relationship Type="http://schemas.openxmlformats.org/officeDocument/2006/relationships/officeDocument" Target="/ppt/presentation.xml" Id="Rdd6269f66c9249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f0692fe24e4a65"/>
  </p:sldMasterIdLst>
  <p:notesMasterIdLst>
    <p:notesMasterId xmlns:r="http://schemas.openxmlformats.org/officeDocument/2006/relationships" r:id="R421be14bba5f49f3"/>
  </p:notesMasterIdLst>
  <p:sldIdLst>
    <p:sldId xmlns:r="http://schemas.openxmlformats.org/officeDocument/2006/relationships" id="256" r:id="R13ef0c126bcd4ebb"/>
    <p:sldId xmlns:r="http://schemas.openxmlformats.org/officeDocument/2006/relationships" id="257" r:id="R7a2e46b0add7470c"/>
    <p:sldId xmlns:r="http://schemas.openxmlformats.org/officeDocument/2006/relationships" id="258" r:id="Rd435218ab0584be6"/>
    <p:sldId xmlns:r="http://schemas.openxmlformats.org/officeDocument/2006/relationships" id="259" r:id="R2089d123a6b04ff8"/>
    <p:sldId xmlns:r="http://schemas.openxmlformats.org/officeDocument/2006/relationships" id="260" r:id="Ra0b82b98147e4670"/>
    <p:sldId xmlns:r="http://schemas.openxmlformats.org/officeDocument/2006/relationships" id="261" r:id="Rb61d98d865ec4ece"/>
    <p:sldId xmlns:r="http://schemas.openxmlformats.org/officeDocument/2006/relationships" id="262" r:id="Ra652f7f3a9f74c8f"/>
    <p:sldId xmlns:r="http://schemas.openxmlformats.org/officeDocument/2006/relationships" id="263" r:id="R03c94fb2c4ab4d95"/>
    <p:sldId xmlns:r="http://schemas.openxmlformats.org/officeDocument/2006/relationships" id="264" r:id="Rd160ab69a6be4ea9"/>
    <p:sldId xmlns:r="http://schemas.openxmlformats.org/officeDocument/2006/relationships" id="265" r:id="R35f41c0410ad47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1be851cc1f4482" /><Relationship Type="http://schemas.openxmlformats.org/officeDocument/2006/relationships/slideMaster" Target="/ppt/slideMasters/slideMaster1.xml" Id="R7ff0692fe24e4a65" /><Relationship Type="http://schemas.openxmlformats.org/officeDocument/2006/relationships/notesMaster" Target="/ppt/notesMasters/notesMaster1.xml" Id="R421be14bba5f49f3" /><Relationship Type="http://schemas.openxmlformats.org/officeDocument/2006/relationships/presProps" Target="/ppt/presProps.xml" Id="Rc989ce5e99bb4075" /><Relationship Type="http://schemas.openxmlformats.org/officeDocument/2006/relationships/tableStyles" Target="/ppt/tableStyles.xml" Id="R71d9890419834452" /><Relationship Type="http://schemas.openxmlformats.org/officeDocument/2006/relationships/slide" Target="/ppt/slides/slide1.xml" Id="R13ef0c126bcd4ebb" /><Relationship Type="http://schemas.openxmlformats.org/officeDocument/2006/relationships/slide" Target="/ppt/slides/slide2.xml" Id="R7a2e46b0add7470c" /><Relationship Type="http://schemas.openxmlformats.org/officeDocument/2006/relationships/slide" Target="/ppt/slides/slide3.xml" Id="Rd435218ab0584be6" /><Relationship Type="http://schemas.openxmlformats.org/officeDocument/2006/relationships/slide" Target="/ppt/slides/slide4.xml" Id="R2089d123a6b04ff8" /><Relationship Type="http://schemas.openxmlformats.org/officeDocument/2006/relationships/slide" Target="/ppt/slides/slide5.xml" Id="Ra0b82b98147e4670" /><Relationship Type="http://schemas.openxmlformats.org/officeDocument/2006/relationships/slide" Target="/ppt/slides/slide6.xml" Id="Rb61d98d865ec4ece" /><Relationship Type="http://schemas.openxmlformats.org/officeDocument/2006/relationships/slide" Target="/ppt/slides/slide7.xml" Id="Ra652f7f3a9f74c8f" /><Relationship Type="http://schemas.openxmlformats.org/officeDocument/2006/relationships/slide" Target="/ppt/slides/slide8.xml" Id="R03c94fb2c4ab4d95" /><Relationship Type="http://schemas.openxmlformats.org/officeDocument/2006/relationships/slide" Target="/ppt/slides/slide9.xml" Id="Rd160ab69a6be4ea9" /><Relationship Type="http://schemas.openxmlformats.org/officeDocument/2006/relationships/slide" Target="/ppt/slides/slide10.xml" Id="R35f41c0410ad47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edb5f553634e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8dbf81b40047e2" /><Relationship Type="http://schemas.openxmlformats.org/officeDocument/2006/relationships/notesMaster" Target="/ppt/notesMasters/notesMaster1.xml" Id="R0e6efca5ae9b47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90fc9e831f480f" /><Relationship Type="http://schemas.openxmlformats.org/officeDocument/2006/relationships/notesMaster" Target="/ppt/notesMasters/notesMaster1.xml" Id="R7919366185784c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af9d422c3b424c" /><Relationship Type="http://schemas.openxmlformats.org/officeDocument/2006/relationships/notesMaster" Target="/ppt/notesMasters/notesMaster1.xml" Id="R602dca2372584c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9571dcfe26444f" /><Relationship Type="http://schemas.openxmlformats.org/officeDocument/2006/relationships/notesMaster" Target="/ppt/notesMasters/notesMaster1.xml" Id="R3c4ff2642be349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eae3d624ff4471" /><Relationship Type="http://schemas.openxmlformats.org/officeDocument/2006/relationships/notesMaster" Target="/ppt/notesMasters/notesMaster1.xml" Id="R93195910243a45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07283269184c79" /><Relationship Type="http://schemas.openxmlformats.org/officeDocument/2006/relationships/notesMaster" Target="/ppt/notesMasters/notesMaster1.xml" Id="R6499d3dd7d0746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732703ec2b4684" /><Relationship Type="http://schemas.openxmlformats.org/officeDocument/2006/relationships/notesMaster" Target="/ppt/notesMasters/notesMaster1.xml" Id="Rf0de3e8a192644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971c96b9e44677" /><Relationship Type="http://schemas.openxmlformats.org/officeDocument/2006/relationships/notesMaster" Target="/ppt/notesMasters/notesMaster1.xml" Id="R5c01849e544849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c0f3ff7b604244" /><Relationship Type="http://schemas.openxmlformats.org/officeDocument/2006/relationships/notesMaster" Target="/ppt/notesMasters/notesMaster1.xml" Id="R490cb00c40b343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e56098135f4d08" /><Relationship Type="http://schemas.openxmlformats.org/officeDocument/2006/relationships/notesMaster" Target="/ppt/notesMasters/notesMaster1.xml" Id="R9ed651154ce941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LifeFlow as an educational desktop simulation. State clearly that it demonstrates software design and is not a clinical blood-matching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value comes from connecting decisions rather than building four unrelated CRUD screens. Link the project context to SDG 3 without presenting the software as a real medical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four objectives. Emphasize that the eligibility thresholds are simplified educational rules derived from Malaysian public-health guidance.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https://jknjohor.moh.gov.my/hsi/syarat-syarat-penderma-darah-yang-layak-2/</a:t>
            </a:r>
          </a:p>
          <a:p xmlns:a="http://schemas.openxmlformats.org/drawingml/2006/main">
            <a:r>
              <a:t>- https://jknsabah.moh.gov.my/hwkks/en/?id=178&amp;option=com_sppagebuilder&amp;view=page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demo map. Start from the dashboard, use a quick action, and then open Matching to process the emergency request.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no external UI framework or database is added. LifeFlowController keeps validation and persistence out of the Swing pages while the UI remains standard Java.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BloodRequest reference in the code and point out that the matching service does not need instanceof checks to calculate priority.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emergency request being selected before the regular request. Clarify that exact-type matching is deliberately conservative and simplified; a real transfusion requires clinical compatibility testing and crossmatching.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https://portal.appshtaa.moh.gov.my/images/ProfilJabatan/Transfusi/handbook.pdf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one saved row during the demo. Explain why pipe-delimited text was selected: it satisfies File I/O while remaining easy to inspect and explain.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java -ea -cp out lifeflow.AllTests and show the single clean result: All tests passed. Then mention one boundary and one atomicity test as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directly into the live demonstration. End by restating the three learning outcomes: clear OOP, meaningful simulation logic, and persistent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13899bd05a47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e990f37d494131" /><Relationship Type="http://schemas.openxmlformats.org/officeDocument/2006/relationships/slideLayout" Target="/ppt/slideLayouts/slideLayout1.xml" Id="R67b432522e384d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b432522e384d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ec06d8ee44835" /><Relationship Type="http://schemas.openxmlformats.org/officeDocument/2006/relationships/notesSlide" Target="/ppt/notesSlides/notesSlide1.xml" Id="R9debc00ef2c94c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f43184c68443c" /><Relationship Type="http://schemas.openxmlformats.org/officeDocument/2006/relationships/notesSlide" Target="/ppt/notesSlides/notesSlide2.xml" Id="Re8c9c313274045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b6920f2f442af" /><Relationship Type="http://schemas.openxmlformats.org/officeDocument/2006/relationships/notesSlide" Target="/ppt/notesSlides/notesSlide3.xml" Id="R691205bb563647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9bcd68edd46c6" /><Relationship Type="http://schemas.openxmlformats.org/officeDocument/2006/relationships/notesSlide" Target="/ppt/notesSlides/notesSlide4.xml" Id="R5d276d2dbe004e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a639e5bb14048" /><Relationship Type="http://schemas.openxmlformats.org/officeDocument/2006/relationships/notesSlide" Target="/ppt/notesSlides/notesSlide5.xml" Id="Ref82fb9a039f44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00c1379d94050" /><Relationship Type="http://schemas.openxmlformats.org/officeDocument/2006/relationships/notesSlide" Target="/ppt/notesSlides/notesSlide6.xml" Id="R3017de2393cd4e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b57da637747eb" /><Relationship Type="http://schemas.openxmlformats.org/officeDocument/2006/relationships/notesSlide" Target="/ppt/notesSlides/notesSlide7.xml" Id="R33dcd8ae4a634f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26dfc29fe4a57" /><Relationship Type="http://schemas.openxmlformats.org/officeDocument/2006/relationships/notesSlide" Target="/ppt/notesSlides/notesSlide8.xml" Id="Ra946afae51434d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37a38b5ce45bc" /><Relationship Type="http://schemas.openxmlformats.org/officeDocument/2006/relationships/notesSlide" Target="/ppt/notesSlides/notesSlide9.xml" Id="Rae3c029d6faf4e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44a6e5e484ba2" /><Relationship Type="http://schemas.openxmlformats.org/officeDocument/2006/relationships/image" Target="/ppt/media/image.png" Id="R293d9613b94c4161" /><Relationship Type="http://schemas.openxmlformats.org/officeDocument/2006/relationships/notesSlide" Target="/ppt/notesSlides/notesSlide10.xml" Id="R03ec91ec50024d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1AAA42CE-6A04-4C8F-8EE2-F6D64138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LifeFlow
Blood Matching Simulation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F4CF17E4-0D1D-4DD2-86A3-92DC2156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Java Swing • OOP • File I/O • Emergency-first matching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841123D4-C23C-4C92-8BB5-5833B4D0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JAVA OOP PROJECT • SDG 3</a:t>
            </a:r>
          </a:p>
        </p:txBody>
      </p:sp>
    </p:spTree>
    <p:extLst>
      <p:ext uri="{BB962C8B-B14F-4D97-AF65-F5344CB8AC3E}">
        <p14:creationId xmlns:p14="http://schemas.microsoft.com/office/powerpoint/2010/main" val="6064310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4-p58-1">
            <a:extLst xmlns:a="http://schemas.openxmlformats.org/drawingml/2006/main">
              <a:ext uri="{FF2B5EF4-FFF2-40B4-BE49-F238E27FC236}">
                <a16:creationId xmlns:a16="http://schemas.microsoft.com/office/drawing/2014/main" id="{C4E32E90-D501-4012-9D63-4CAA38D1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838801"/>
            <a:ext cx="5533168" cy="41555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A small but meaningful simulation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Blood donation scenarios involve several connected decisions: donor eligibility, unit validity, request priority, and stock availability.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Treating each part as an isolated record misses the real workflow and gives weak evidence of OOP.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LifeFlow joins the steps into one repeatable simulation that can be demonstrated live.</a:t>
            </a:r>
          </a:p>
        </p:txBody>
      </p:sp>
      <p:sp>
        <p:nvSpPr>
          <p:cNvPr id="2" name="Google-Shape-532-p58-3">
            <a:extLst xmlns:a="http://schemas.openxmlformats.org/drawingml/2006/main">
              <a:ext uri="{FF2B5EF4-FFF2-40B4-BE49-F238E27FC236}">
                <a16:creationId xmlns:a16="http://schemas.microsoft.com/office/drawing/2014/main" id="{9CC2D130-FF44-400B-BDFB-38E7CB1A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Google-Shape-533-p58-4">
            <a:extLst xmlns:a="http://schemas.openxmlformats.org/drawingml/2006/main">
              <a:ext uri="{FF2B5EF4-FFF2-40B4-BE49-F238E27FC236}">
                <a16:creationId xmlns:a16="http://schemas.microsoft.com/office/drawing/2014/main" id="{51FA8BC9-D343-4FC1-BAC7-AA85B63D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problem LifeFlow addresses</a:t>
            </a:r>
          </a:p>
        </p:txBody>
      </p:sp>
      <p:sp>
        <p:nvSpPr>
          <p:cNvPr id="4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4528FDEB-9FF9-4E31-9D37-4B089C80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069" y="2192655"/>
            <a:ext cx="5537168" cy="3801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The intended outcome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Register donors and blood units, queue regular and emergency requests, then process the highest-priority request safely.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Persist every successful operation so the next session continues from the same state.</a:t>
            </a:r>
          </a:p>
        </p:txBody>
      </p:sp>
    </p:spTree>
    <p:extLst>
      <p:ext uri="{BB962C8B-B14F-4D97-AF65-F5344CB8AC3E}">
        <p14:creationId xmlns:p14="http://schemas.microsoft.com/office/powerpoint/2010/main" val="17370041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9DDB2319-4BF2-4C0A-AC3F-B9EC5473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32DE93EB-F8BC-43F1-AF5D-BAF7416B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Four pillars define the system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5B864AC7-8498-4F04-9896-B24CF1C0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01  Eligibility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Check age, weight, donation interval, and future dates before accepting a new unit.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4558C5C7-DC76-4DBB-9126-5EB48847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02  Inventory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Track every unit by type, expiry, and AVAILABLE or USED status.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F2DCB8E8-0E81-4768-B13D-AB3FEDC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03  Priority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Process emergency requests first, then the oldest request at equal priority.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4DFA9E4-86EF-4A99-B50E-887ED044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04  Dashboard + UX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Expose live stock, urgent demand, quick actions, and safe editing in one clear interface.</a:t>
            </a:r>
          </a:p>
        </p:txBody>
      </p:sp>
    </p:spTree>
    <p:extLst>
      <p:ext uri="{BB962C8B-B14F-4D97-AF65-F5344CB8AC3E}">
        <p14:creationId xmlns:p14="http://schemas.microsoft.com/office/powerpoint/2010/main" val="97310078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1614FFB-3C65-4E0C-B266-959D15B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09189E5-1644-4AC8-A386-D749D3D0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dashboard guides the complete workflow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72BEECD-6B83-49A2-AAF6-2A8A885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1A353DA-10D0-4082-844A-59ED5F8C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E145008-2706-421A-9F4F-B9D8EF86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B4D36A10-8E33-4F32-90E4-8BC3E5DC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SEE STATUS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B1C23E5-DB19-4580-9FC3-DA9A95BD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ACT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575AE2D-D916-4CC0-AD12-A46659E5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MATCH &amp; SAVE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A46FC97-CB55-4EB8-8C76-470C417C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Focused quick actions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Open a clean add dialog for donors, units, or requests without leaving the dashboard.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0EA38D6B-C236-4B05-BB24-201B12B6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Live operational view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Review donors, available stock, pending requests, and the emergency queue at startup.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EC9FE96E-CB50-4544-AA2B-7016916C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Atomic result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Use matching units only when the full quantity is available, then persist.</a:t>
            </a:r>
          </a:p>
        </p:txBody>
      </p:sp>
    </p:spTree>
    <p:extLst>
      <p:ext uri="{BB962C8B-B14F-4D97-AF65-F5344CB8AC3E}">
        <p14:creationId xmlns:p14="http://schemas.microsoft.com/office/powerpoint/2010/main" val="18357658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BB71286-CF1E-40EA-92A9-FA478326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9B6DBFE-6688-4502-812B-D74424B7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architecture stays intentionally simple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D471BCD-58E8-4310-8B0C-EA17C3DD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Presentation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Sidebar + CardLayout
Five focused panels
Reusable UI theme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3A2F669F-4337-4A1A-ACEE-FE63C4B2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Persistence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FileManager
Three text files
Clear line-level errors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50479CB0-22F0-41D0-AA61-95FB4DA9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Controller + domain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LifeFlowController
Request hierarchy
Inventory + matching</a:t>
            </a:r>
          </a:p>
        </p:txBody>
      </p:sp>
    </p:spTree>
    <p:extLst>
      <p:ext uri="{BB962C8B-B14F-4D97-AF65-F5344CB8AC3E}">
        <p14:creationId xmlns:p14="http://schemas.microsoft.com/office/powerpoint/2010/main" val="18402530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AB61A84-A7D9-4AD4-8768-E899EB69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149B709-DEEF-46F5-831A-E82FF0A6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OOP concepts are visible in real behavior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D7789CC6-294B-4F61-8372-64C90D65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43A7E01-3C4D-462E-B9EC-6A4F784D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Abstraction + Inheritance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D6892B67-9014-4EAA-A7FD-F8C3603E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Private fields preserve encapsulation.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Shared request data lives once in the parent.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Subclasses supply only distinct behavior.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A0390DA1-E0A6-4CC2-85F0-3CE16D0C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67276B94-FF98-442C-A299-F485B34C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Runtime Polymorphism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FFC8B61-3767-442B-B633-EE53BC28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Requests share one ArrayList&lt;BloodRequest&gt;.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Matching calls getPriority() through the parent.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actual subclass decides the result at runtime.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F3F8525B-4E23-46EE-B710-76C20F6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The request hierarchy is the main OOP example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BloodRequest holds shared state and declares getPriority() as an abstract operation.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RegularRequest and EmergencyRequest override that operation with different priorities.</a:t>
            </a:r>
          </a:p>
        </p:txBody>
      </p:sp>
    </p:spTree>
    <p:extLst>
      <p:ext uri="{BB962C8B-B14F-4D97-AF65-F5344CB8AC3E}">
        <p14:creationId xmlns:p14="http://schemas.microsoft.com/office/powerpoint/2010/main" val="13439448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4-p58-1">
            <a:extLst xmlns:a="http://schemas.openxmlformats.org/drawingml/2006/main">
              <a:ext uri="{FF2B5EF4-FFF2-40B4-BE49-F238E27FC236}">
                <a16:creationId xmlns:a16="http://schemas.microsoft.com/office/drawing/2014/main" id="{DA1BC0E1-506C-4A9F-8BBD-86890CE2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838801"/>
            <a:ext cx="5533168" cy="41555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Selection policy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1. Ignore fulfilled requests.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2. Choose the highest getPriority() value.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3. At equal priority, choose the oldest request date.</a:t>
            </a:r>
          </a:p>
        </p:txBody>
      </p:sp>
      <p:sp>
        <p:nvSpPr>
          <p:cNvPr id="2" name="Google-Shape-532-p58-3">
            <a:extLst xmlns:a="http://schemas.openxmlformats.org/drawingml/2006/main">
              <a:ext uri="{FF2B5EF4-FFF2-40B4-BE49-F238E27FC236}">
                <a16:creationId xmlns:a16="http://schemas.microsoft.com/office/drawing/2014/main" id="{4D9E6949-3A95-40D1-B442-F9727281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3" name="Google-Shape-533-p58-4">
            <a:extLst xmlns:a="http://schemas.openxmlformats.org/drawingml/2006/main">
              <a:ext uri="{FF2B5EF4-FFF2-40B4-BE49-F238E27FC236}">
                <a16:creationId xmlns:a16="http://schemas.microsoft.com/office/drawing/2014/main" id="{FDF444BC-C903-408A-818E-FBC94107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Matching is priority-aware and atomic</a:t>
            </a:r>
          </a:p>
        </p:txBody>
      </p:sp>
      <p:sp>
        <p:nvSpPr>
          <p:cNvPr id="4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AAF56DCF-A65E-4A98-8A80-52D0C74B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069" y="2192655"/>
            <a:ext cx="5537168" cy="3801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Fulfillment policy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Use only AVAILABLE, unexpired units with exactly the same ABO and Rh type.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If the full quantity is unavailable, change nothing. No partial fulfillment is allowed.</a:t>
            </a:r>
          </a:p>
        </p:txBody>
      </p:sp>
    </p:spTree>
    <p:extLst>
      <p:ext uri="{BB962C8B-B14F-4D97-AF65-F5344CB8AC3E}">
        <p14:creationId xmlns:p14="http://schemas.microsoft.com/office/powerpoint/2010/main" val="13577548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E1F43992-2154-4253-B022-0F73E3E7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B40DBFF3-96EF-4B2A-A8DC-8EFFC260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Persistence is readable and recoverable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B67717B8-C7D3-4415-828A-D2C61C2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donors.txt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Identity, eligibility data, blood type, and optional last donation date.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3E7DB29-5716-4DDA-8F47-9182A194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blood_units.txt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Donor link, donation and expiry dates, type, and unit status.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56A02E1-68E3-4366-B82F-1535B315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requests.txt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Kind field restores the correct RegularRequest or EmergencyRequest subclass.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71B853D-4AFD-4B69-81C5-77E6C166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Safe loading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Missing files mean empty data; malformed rows report the exact line and stop startup.</a:t>
            </a:r>
          </a:p>
        </p:txBody>
      </p:sp>
    </p:spTree>
    <p:extLst>
      <p:ext uri="{BB962C8B-B14F-4D97-AF65-F5344CB8AC3E}">
        <p14:creationId xmlns:p14="http://schemas.microsoft.com/office/powerpoint/2010/main" val="530526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E942789-AE95-452A-9654-78A6D4D9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E27D1B19-8DCC-4E78-8943-964DE1A6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68E6106E-CCBA-44D6-ADFB-6C3CB934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8B34ED9-125F-4A49-B12F-D4633C33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9E1A775-5ED4-4068-8419-68946097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Tests verify boundaries and state changes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C77010D8-7185-413B-BE3F-414BD0E2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Controller + UI assertions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F2C3242-23DD-498F-A0A7-0D4EA5CD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Failed matches mutate nothing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346CF599-113C-4148-9143-41EE5278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 boundaries tested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D0D4C20D-AC6E-431F-8762-1A084BDC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ALL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791F8347-C2DF-4E1A-A284-F273F10A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17 → 61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B3CF58D1-8F5F-4731-AAEA-20B77CAF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0 PARTIAL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B8B395CF-A0A4-432D-A458-7EDFE430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Automated with plain Java assertions</a:t>
            </a:r>
          </a:p>
          <a:p xmlns:a="http://schemas.openxmlformats.org/drawingml/2006/main">
            <a:pPr algn="l">
              <a:lnSpc>
                <a:spcPct val="105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suite covers eligibility, priority, atomic matching, persistence, safe editing, dashboard counts, and headless refresh of all five Swing panels.</a:t>
            </a:r>
          </a:p>
        </p:txBody>
      </p:sp>
    </p:spTree>
    <p:extLst>
      <p:ext uri="{BB962C8B-B14F-4D97-AF65-F5344CB8AC3E}">
        <p14:creationId xmlns:p14="http://schemas.microsoft.com/office/powerpoint/2010/main" val="2147660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038A244-2925-45D0-9B3E-DAE0FC22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Live demo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15A8EE4-E39E-4687-973A-72D5CAB3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Review the dashboard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Process the emergency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Confirm save + restart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3782A5B8-EAF5-4B72-8CCF-48454A44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B91C1C"/>
                </a:solidFill>
                <a:latin typeface="Helvetica Neue"/>
                <a:ea typeface="Helvetica Neue"/>
                <a:cs typeface="Helvetica Neue"/>
              </a:rPr>
              <a:t>LIFEFLOW • JAVA SWING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d9613b94c4161"/>
          <a:stretch xmlns:a="http://schemas.openxmlformats.org/drawingml/2006/main"/>
        </p:blipFill>
        <p:spPr>
          <a:xfrm xmlns:a="http://schemas.openxmlformats.org/drawingml/2006/main">
            <a:off x="6051428" y="876300"/>
            <a:ext cx="5470769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</p:spTree>
    <p:extLst>
      <p:ext uri="{BB962C8B-B14F-4D97-AF65-F5344CB8AC3E}">
        <p14:creationId xmlns:p14="http://schemas.microsoft.com/office/powerpoint/2010/main" val="16718734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2026-08-15T14:59:28.0900000Z</dcterms:created>
  <dcterms:modified xsi:type="dcterms:W3CDTF">2026-08-15T14:59:28.0900000Z</dcterms:modified>
</coreProperties>
</file>